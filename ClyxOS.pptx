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jpg" ContentType="image/jpeg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67394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2834464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95694379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420878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3552785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5082239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7414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301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1254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4712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2028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2373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A10986-6AAF-17A5-C9F4-9CCD5B1F6C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632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70100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528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CF294-21B3-F560-A21E-8107897AEA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5719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2058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7393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7439A2-67E8-0215-5218-5B32AFCD49D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3887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38899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4553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8F81CA-5DFD-9CC0-5C56-856AD31206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697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6734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8411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216FB3-DB42-6A08-4AF7-0F3AB439D9A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6422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75944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47625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E4CA16-0E44-4D17-F6DF-3676ADDD6D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1588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7764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7259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D8CB5B-1F08-8417-917A-77954FCF78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8375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7944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18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3B4F46-A54C-563C-F60F-6A3D197967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1164B-3F42-0662-5992-3580234445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0705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8730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286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705752-0C38-0F49-9A2C-27E409111F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732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814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5632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EF7C7D-E779-4B40-2F65-832F04C6C4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7624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21579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21527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E3E1B-8D5A-2057-61F1-83FF160827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1771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05756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903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1BBC87-CBAF-E622-B935-3DD98305F3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0842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3902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34305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51210B-7D10-78E5-DC7E-A4CE523248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732436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81478781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78133315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44839170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26042137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48945941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3568211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96196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4688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267255774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94061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680561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993755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120114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8461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445991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758947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751877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370997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7013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015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816004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764038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397416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3223609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35170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685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42850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10542251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0910038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3147138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3846437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6717075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89363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9210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4859067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1214906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10538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36936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725934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859916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21305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49534547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800744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41208659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220683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6795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4090339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842960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36095561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2911789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5578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11399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9416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441750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246001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353074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6381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5788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2112049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6121940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0177019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559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885808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94495930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57480153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95448379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140912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5844386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5277091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916395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media1.svg"/><Relationship Id="rId8" Type="http://schemas.openxmlformats.org/officeDocument/2006/relationships/image" Target="../media/image5.jpg"/><Relationship Id="rId9" Type="http://schemas.openxmlformats.org/officeDocument/2006/relationships/image" Target="../media/image6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package" Target="../embeddings/Microsoft_Excel_Worksheet1.xlsx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75929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4595833" y="1637631"/>
            <a:ext cx="6720745" cy="118644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Clyx – </a:t>
            </a: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788135800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3068959"/>
            <a:ext cx="6720745" cy="72007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82924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marL="570252" indent="-570252">
              <a:buAutoNum type="romanUcPeriod"/>
              <a:defRPr/>
            </a:pPr>
            <a:r>
              <a:rPr lang="ru-RU"/>
              <a:t>Существующие ОС на базе </a:t>
            </a:r>
            <a:r>
              <a:rPr lang="en-US"/>
              <a:t>linux</a:t>
            </a:r>
            <a:endParaRPr/>
          </a:p>
        </p:txBody>
      </p:sp>
      <p:sp>
        <p:nvSpPr>
          <p:cNvPr id="131337630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8219021" cy="278489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В настоящее время существует большое количество дистрибутивов Linux, 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таких как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Ubuntu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на базе 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ArchLinux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NixOS 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и др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; 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из российских –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Alt linux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en-US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Astra linux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(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на базе 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debian</a:t>
            </a:r>
            <a:r>
              <a:rPr lang="en-US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. </a:t>
            </a:r>
            <a:endParaRPr sz="2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Они отличаются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внешним видом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способом установки программ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стабильностью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требованиями к оборудованию и назначением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. </a:t>
            </a:r>
            <a:endParaRPr sz="2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63842405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5960" y="4164102"/>
            <a:ext cx="2444884" cy="1902120"/>
          </a:xfrm>
          <a:prstGeom prst="rect">
            <a:avLst/>
          </a:prstGeom>
        </p:spPr>
      </p:pic>
      <p:pic>
        <p:nvPicPr>
          <p:cNvPr id="34612651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760845" y="4858429"/>
            <a:ext cx="1721610" cy="1147739"/>
          </a:xfrm>
          <a:prstGeom prst="rect">
            <a:avLst/>
          </a:prstGeom>
        </p:spPr>
      </p:pic>
      <p:pic>
        <p:nvPicPr>
          <p:cNvPr id="132226284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719109" y="5115162"/>
            <a:ext cx="2640521" cy="875773"/>
          </a:xfrm>
          <a:prstGeom prst="rect">
            <a:avLst/>
          </a:prstGeom>
        </p:spPr>
      </p:pic>
      <p:pic>
        <p:nvPicPr>
          <p:cNvPr id="867392909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7244807" y="4648051"/>
            <a:ext cx="3167625" cy="1703024"/>
          </a:xfrm>
          <a:prstGeom prst="rect">
            <a:avLst/>
          </a:prstGeom>
        </p:spPr>
      </p:pic>
      <p:pic>
        <p:nvPicPr>
          <p:cNvPr id="1117659912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055645" y="2693897"/>
            <a:ext cx="2613697" cy="1470204"/>
          </a:xfrm>
          <a:prstGeom prst="rect">
            <a:avLst/>
          </a:prstGeom>
        </p:spPr>
      </p:pic>
      <p:pic>
        <p:nvPicPr>
          <p:cNvPr id="904502206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8828620" y="1600200"/>
            <a:ext cx="3067747" cy="11607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83831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II. </a:t>
            </a:r>
            <a:r>
              <a:rPr lang="ru-RU"/>
              <a:t>Проблемы существующих ОС</a:t>
            </a:r>
            <a:endParaRPr/>
          </a:p>
        </p:txBody>
      </p:sp>
      <p:sp>
        <p:nvSpPr>
          <p:cNvPr id="121839256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2193" y="1600200"/>
            <a:ext cx="3515825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Большинство решений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либо сложны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для массового пользователя, </a:t>
            </a:r>
            <a:r>
              <a:rPr lang="ru-RU" sz="2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либо ориентированы на узкие сценарии</a:t>
            </a:r>
            <a:r>
              <a:rPr lang="ru-RU" sz="2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– разработку, серверы, контейнеры.</a:t>
            </a:r>
            <a:endParaRPr sz="2200"/>
          </a:p>
        </p:txBody>
      </p:sp>
      <p:graphicFrame>
        <p:nvGraphicFramePr>
          <p:cNvPr id="1087706983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4035500" y="1417637"/>
          <a:ext cx="7898304" cy="4669481"/>
        </p:xfrm>
        <a:graphic>
          <a:graphicData uri="http://schemas.openxmlformats.org/presentationml/2006/ole">
            <p:oleObj name="oleObj" r:id="rId4" imgW="7896225" imgH="4667250" progId="Excel.Sheet.12">
              <p:embed/>
              <p:pic>
                <p:nvPicPr>
                  <p:cNvPr id="1087706983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4035500" y="1417637"/>
                    <a:ext cx="7898304" cy="466948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911498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3800"/>
              <a:t>III. </a:t>
            </a:r>
            <a:r>
              <a:rPr lang="ru-RU" sz="3800"/>
              <a:t>Сравнение</a:t>
            </a:r>
            <a:r>
              <a:rPr lang="en-US" sz="3800"/>
              <a:t> </a:t>
            </a:r>
            <a:r>
              <a:rPr lang="ru-RU" sz="3800"/>
              <a:t>декларативных ОС </a:t>
            </a:r>
            <a:r>
              <a:rPr lang="ru-RU" sz="3800"/>
              <a:t>с другими дистрибутивами (на примере </a:t>
            </a:r>
            <a:r>
              <a:rPr lang="en-US" sz="3800"/>
              <a:t>NixOS</a:t>
            </a:r>
            <a:r>
              <a:rPr lang="ru-RU" sz="3800"/>
              <a:t>)</a:t>
            </a:r>
            <a:endParaRPr sz="3800"/>
          </a:p>
        </p:txBody>
      </p:sp>
      <p:sp>
        <p:nvSpPr>
          <p:cNvPr id="158164952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ru-RU" sz="2400"/>
              <a:t>В отличие от классических дистрибутивов, ОС подобные </a:t>
            </a:r>
            <a:r>
              <a:rPr lang="en-US" sz="2400"/>
              <a:t>NixOS </a:t>
            </a:r>
            <a:r>
              <a:rPr lang="ru-RU" sz="2400"/>
              <a:t>управляются конфигурацией, к которой система приводится автоматически, а не командами вручную</a:t>
            </a:r>
            <a:r>
              <a:rPr lang="ru-RU" sz="2400"/>
              <a:t>.</a:t>
            </a:r>
            <a:endParaRPr sz="2400"/>
          </a:p>
          <a:p>
            <a:pPr>
              <a:defRPr/>
            </a:pPr>
            <a:r>
              <a:rPr lang="ru-RU" sz="2400"/>
              <a:t>Плюсы </a:t>
            </a:r>
            <a:r>
              <a:rPr lang="en-US" sz="2400"/>
              <a:t>NixOS:</a:t>
            </a:r>
            <a:endParaRPr sz="2400"/>
          </a:p>
          <a:p>
            <a:pPr lvl="1">
              <a:defRPr/>
            </a:pPr>
            <a:r>
              <a:rPr lang="ru-RU" sz="2400"/>
              <a:t>Пакеты изолированны друг от друга, </a:t>
            </a:r>
            <a:r>
              <a:rPr lang="ru-RU" sz="2400" b="1"/>
              <a:t>конфликты </a:t>
            </a:r>
            <a:r>
              <a:rPr lang="ru-RU" sz="2400"/>
              <a:t>архитектурно </a:t>
            </a:r>
            <a:r>
              <a:rPr lang="ru-RU" sz="2400" b="1"/>
              <a:t>невозможны</a:t>
            </a:r>
            <a:r>
              <a:rPr lang="ru-RU" sz="2400"/>
              <a:t>.</a:t>
            </a:r>
            <a:endParaRPr sz="2400"/>
          </a:p>
          <a:p>
            <a:pPr lvl="1">
              <a:defRPr/>
            </a:pPr>
            <a:r>
              <a:rPr lang="ru-RU" sz="2400" b="1"/>
              <a:t>Возможность отката</a:t>
            </a:r>
            <a:r>
              <a:rPr lang="ru-RU" sz="2400"/>
              <a:t> к предыдущей версии конфигурации.</a:t>
            </a:r>
            <a:endParaRPr lang="ru-RU" sz="2400"/>
          </a:p>
          <a:p>
            <a:pPr lvl="1">
              <a:defRPr/>
            </a:pPr>
            <a:r>
              <a:rPr lang="ru-RU" sz="2400"/>
              <a:t>Из одной конфигурации можно развернуть </a:t>
            </a:r>
            <a:r>
              <a:rPr lang="ru-RU" sz="2400" b="1"/>
              <a:t>множество одинаковых машин</a:t>
            </a:r>
            <a:r>
              <a:rPr lang="ru-RU" sz="2400"/>
              <a:t>, например, для офиса или кластеров серверов</a:t>
            </a:r>
            <a:endParaRPr lang="ru-RU" sz="2400"/>
          </a:p>
          <a:p>
            <a:pPr lvl="0">
              <a:defRPr/>
            </a:pPr>
            <a:r>
              <a:rPr lang="ru-RU" sz="2800"/>
              <a:t>Минусы </a:t>
            </a:r>
            <a:r>
              <a:rPr lang="en-US" sz="2800"/>
              <a:t>NixOS:</a:t>
            </a:r>
            <a:endParaRPr lang="en-US" sz="2800"/>
          </a:p>
          <a:p>
            <a:pPr lvl="1">
              <a:defRPr/>
            </a:pPr>
            <a:r>
              <a:rPr lang="ru-RU" sz="2400" b="1"/>
              <a:t>Высокий порог входа</a:t>
            </a:r>
            <a:r>
              <a:rPr lang="ru-RU" sz="2400"/>
              <a:t>, необходимость </a:t>
            </a:r>
            <a:r>
              <a:rPr lang="ru-RU" sz="2400" b="1"/>
              <a:t>учить язык программирования </a:t>
            </a:r>
            <a:r>
              <a:rPr lang="en-US" sz="2400" b="1"/>
              <a:t>nix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70586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III. </a:t>
            </a:r>
            <a:r>
              <a:rPr lang="ru-RU"/>
              <a:t>Способы решения проблем</a:t>
            </a:r>
            <a:endParaRPr/>
          </a:p>
        </p:txBody>
      </p:sp>
      <p:sp>
        <p:nvSpPr>
          <p:cNvPr id="125496530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Конфигурация в </a:t>
            </a:r>
            <a:r>
              <a:rPr lang="en-US"/>
              <a:t>Clyx </a:t>
            </a:r>
            <a:r>
              <a:rPr lang="ru-RU"/>
              <a:t>должна быть выполнена в конфигурационном языке, поддерживающим </a:t>
            </a:r>
            <a:r>
              <a:rPr lang="en-US"/>
              <a:t>LSP (</a:t>
            </a:r>
            <a:r>
              <a:rPr lang="ru-RU" b="1"/>
              <a:t>автодополнение</a:t>
            </a:r>
            <a:r>
              <a:rPr lang="ru-RU"/>
              <a:t>, </a:t>
            </a:r>
            <a:r>
              <a:rPr lang="ru-RU" b="1"/>
              <a:t>указание ошибок</a:t>
            </a:r>
            <a:r>
              <a:rPr lang="en-US"/>
              <a:t>)</a:t>
            </a:r>
            <a:r>
              <a:rPr lang="ru-RU"/>
              <a:t> и изменение конфигурации программой </a:t>
            </a:r>
            <a:r>
              <a:rPr lang="ru-RU" b="1"/>
              <a:t>без потерь форматирования</a:t>
            </a:r>
            <a:r>
              <a:rPr lang="ru-RU"/>
              <a:t>. Это дает </a:t>
            </a:r>
            <a:r>
              <a:rPr lang="ru-RU" b="1"/>
              <a:t>простоту</a:t>
            </a:r>
            <a:r>
              <a:rPr lang="ru-RU"/>
              <a:t>, возможность сделать </a:t>
            </a:r>
            <a:r>
              <a:rPr lang="ru-RU" b="1"/>
              <a:t>графическую программу для управления системой</a:t>
            </a:r>
            <a:r>
              <a:rPr lang="ru-RU" b="0"/>
              <a:t>.</a:t>
            </a:r>
            <a:endParaRPr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08808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IV. </a:t>
            </a:r>
            <a:r>
              <a:rPr lang="ru-RU"/>
              <a:t>Основные принципы </a:t>
            </a:r>
            <a:r>
              <a:rPr lang="en-US"/>
              <a:t>Clyx:</a:t>
            </a:r>
            <a:br>
              <a:rPr lang="en-US"/>
            </a:br>
            <a:r>
              <a:rPr lang="ru-RU"/>
              <a:t>Декларативность</a:t>
            </a:r>
            <a:endParaRPr/>
          </a:p>
        </p:txBody>
      </p:sp>
      <p:sp>
        <p:nvSpPr>
          <p:cNvPr id="147977893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5482761" y="1600200"/>
            <a:ext cx="6099633" cy="452596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800" b="1"/>
              <a:t>Декларативность</a:t>
            </a:r>
            <a:r>
              <a:rPr lang="ru-RU" sz="1800" b="0"/>
              <a:t> – система, конечное состояние которой описано в конфигурационном файле, а не достигается вручную (императивными коммандами). </a:t>
            </a:r>
            <a:endParaRPr sz="1800" b="0"/>
          </a:p>
          <a:p>
            <a:pPr>
              <a:defRPr/>
            </a:pPr>
            <a:r>
              <a:rPr lang="ru-RU" sz="1800" b="0"/>
              <a:t>Декларативный подход </a:t>
            </a:r>
            <a:r>
              <a:rPr lang="ru-RU" sz="1800" b="1"/>
              <a:t>исключает вероятность ошибки</a:t>
            </a:r>
            <a:r>
              <a:rPr lang="ru-RU" sz="1800" b="0"/>
              <a:t> оператора </a:t>
            </a:r>
            <a:r>
              <a:rPr lang="ru-RU" sz="1800" b="1"/>
              <a:t>при ручном управлении</a:t>
            </a:r>
            <a:r>
              <a:rPr lang="ru-RU" sz="1800" b="0"/>
              <a:t> системой</a:t>
            </a:r>
            <a:r>
              <a:rPr lang="ru-RU" sz="1800" b="0"/>
              <a:t>.</a:t>
            </a:r>
            <a:endParaRPr sz="1800" b="0"/>
          </a:p>
          <a:p>
            <a:pPr>
              <a:defRPr/>
            </a:pPr>
            <a:r>
              <a:rPr lang="ru-RU" sz="1800" b="0"/>
              <a:t>В декларативной системе можно нативно реализовать функцию </a:t>
            </a:r>
            <a:r>
              <a:rPr lang="ru-RU" sz="1800" b="1"/>
              <a:t>откатов</a:t>
            </a:r>
            <a:r>
              <a:rPr lang="en-US" sz="1800" b="0"/>
              <a:t>: </a:t>
            </a:r>
            <a:r>
              <a:rPr lang="ru-RU" sz="1800" b="0"/>
              <a:t>если что то сломалось, можно просто </a:t>
            </a:r>
            <a:r>
              <a:rPr lang="ru-RU" sz="1800" b="1"/>
              <a:t>вернуться к предыдущей конфигурации</a:t>
            </a:r>
            <a:r>
              <a:rPr lang="ru-RU" sz="1800" b="0"/>
              <a:t>.</a:t>
            </a:r>
            <a:endParaRPr lang="ru-RU" sz="1800" b="0"/>
          </a:p>
          <a:p>
            <a:pPr>
              <a:defRPr/>
            </a:pPr>
            <a:r>
              <a:rPr lang="ru-RU" sz="1800" b="0"/>
              <a:t>Имея конфиг системы, можно сделать ее точную копию. </a:t>
            </a:r>
            <a:r>
              <a:rPr lang="ru-RU" sz="1800" b="0"/>
              <a:t>Это упрощает </a:t>
            </a:r>
            <a:r>
              <a:rPr lang="ru-RU" sz="1800" b="1"/>
              <a:t>развертывание системы на множество устройств</a:t>
            </a:r>
            <a:r>
              <a:rPr lang="en-US" sz="1800" b="0"/>
              <a:t>: </a:t>
            </a:r>
            <a:r>
              <a:rPr lang="ru-RU" sz="1800" b="0"/>
              <a:t>офисы, школьные ноутбуки и т.д.</a:t>
            </a:r>
            <a:endParaRPr sz="1800" b="0"/>
          </a:p>
        </p:txBody>
      </p:sp>
      <p:pic>
        <p:nvPicPr>
          <p:cNvPr id="1021634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9598" y="976995"/>
            <a:ext cx="4176150" cy="51491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663048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IV. </a:t>
            </a:r>
            <a:r>
              <a:rPr lang="ru-RU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Основные принципы </a:t>
            </a:r>
            <a:r>
              <a:rPr lang="en-US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Clyx:</a:t>
            </a:r>
            <a:br>
              <a:rPr lang="en-US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</a:br>
            <a:r>
              <a:rPr lang="ru-RU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rPr>
              <a:t>Декларативность</a:t>
            </a:r>
            <a:endParaRPr sz="4400"/>
          </a:p>
        </p:txBody>
      </p:sp>
      <p:sp>
        <p:nvSpPr>
          <p:cNvPr id="1576964692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609598" y="1600200"/>
            <a:ext cx="5384799" cy="5721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/>
              <a:t>Императивная система</a:t>
            </a:r>
            <a:endParaRPr/>
          </a:p>
        </p:txBody>
      </p:sp>
      <p:sp>
        <p:nvSpPr>
          <p:cNvPr id="151480896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97598" y="1600200"/>
            <a:ext cx="5384799" cy="5721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/>
              <a:t>Декларативная система</a:t>
            </a:r>
            <a:endParaRPr/>
          </a:p>
        </p:txBody>
      </p:sp>
      <p:sp>
        <p:nvSpPr>
          <p:cNvPr id="193053342" name=""/>
          <p:cNvSpPr/>
          <p:nvPr/>
        </p:nvSpPr>
        <p:spPr bwMode="auto">
          <a:xfrm rot="0" flipH="0" flipV="0">
            <a:off x="1584009" y="2740526"/>
            <a:ext cx="1948821" cy="53473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Исх. Состояние</a:t>
            </a:r>
            <a:endParaRPr/>
          </a:p>
        </p:txBody>
      </p:sp>
      <p:sp>
        <p:nvSpPr>
          <p:cNvPr id="1364087839" name=""/>
          <p:cNvSpPr/>
          <p:nvPr/>
        </p:nvSpPr>
        <p:spPr bwMode="auto">
          <a:xfrm rot="0" flipH="0" flipV="0">
            <a:off x="1584009" y="5800557"/>
            <a:ext cx="1948821" cy="53473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Цел. Состояние</a:t>
            </a:r>
            <a:endParaRPr/>
          </a:p>
        </p:txBody>
      </p:sp>
      <p:sp>
        <p:nvSpPr>
          <p:cNvPr id="119457925" name=""/>
          <p:cNvSpPr/>
          <p:nvPr/>
        </p:nvSpPr>
        <p:spPr bwMode="auto">
          <a:xfrm rot="0" flipH="0" flipV="0">
            <a:off x="2363095" y="3342105"/>
            <a:ext cx="350920" cy="235618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31971293" name=""/>
          <p:cNvSpPr/>
          <p:nvPr/>
        </p:nvSpPr>
        <p:spPr bwMode="auto">
          <a:xfrm rot="0" flipH="0" flipV="0">
            <a:off x="2697305" y="3509210"/>
            <a:ext cx="2155657" cy="3843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Команда</a:t>
            </a:r>
            <a:r>
              <a:rPr lang="ru-RU"/>
              <a:t> 1</a:t>
            </a:r>
            <a:endParaRPr/>
          </a:p>
        </p:txBody>
      </p:sp>
      <p:sp>
        <p:nvSpPr>
          <p:cNvPr id="848733479" name=""/>
          <p:cNvSpPr/>
          <p:nvPr/>
        </p:nvSpPr>
        <p:spPr bwMode="auto">
          <a:xfrm rot="0" flipH="0" flipV="0">
            <a:off x="2714016" y="4135855"/>
            <a:ext cx="2155656" cy="3843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Команда </a:t>
            </a:r>
            <a:r>
              <a:rPr lang="ru-RU"/>
              <a:t>2</a:t>
            </a:r>
            <a:endParaRPr/>
          </a:p>
        </p:txBody>
      </p:sp>
      <p:sp>
        <p:nvSpPr>
          <p:cNvPr id="582565537" name=""/>
          <p:cNvSpPr/>
          <p:nvPr/>
        </p:nvSpPr>
        <p:spPr bwMode="auto">
          <a:xfrm rot="0" flipH="0" flipV="0">
            <a:off x="2714016" y="4714371"/>
            <a:ext cx="2155656" cy="599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Ручной запуск программ</a:t>
            </a:r>
            <a:endParaRPr/>
          </a:p>
        </p:txBody>
      </p:sp>
      <p:sp>
        <p:nvSpPr>
          <p:cNvPr id="82822706" name=""/>
          <p:cNvSpPr/>
          <p:nvPr/>
        </p:nvSpPr>
        <p:spPr bwMode="auto">
          <a:xfrm rot="0" flipH="0" flipV="0">
            <a:off x="7250881" y="2740526"/>
            <a:ext cx="1948821" cy="53473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Исх. Состояние</a:t>
            </a:r>
            <a:endParaRPr/>
          </a:p>
        </p:txBody>
      </p:sp>
      <p:sp>
        <p:nvSpPr>
          <p:cNvPr id="1529125953" name=""/>
          <p:cNvSpPr/>
          <p:nvPr/>
        </p:nvSpPr>
        <p:spPr bwMode="auto">
          <a:xfrm rot="0" flipH="0" flipV="0">
            <a:off x="7250881" y="5800557"/>
            <a:ext cx="1948821" cy="534735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Цел. Состояние</a:t>
            </a:r>
            <a:endParaRPr/>
          </a:p>
        </p:txBody>
      </p:sp>
      <p:sp>
        <p:nvSpPr>
          <p:cNvPr id="531182413" name=""/>
          <p:cNvSpPr/>
          <p:nvPr/>
        </p:nvSpPr>
        <p:spPr bwMode="auto">
          <a:xfrm rot="0" flipH="0" flipV="0">
            <a:off x="8029968" y="3342105"/>
            <a:ext cx="350920" cy="235618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5467545" name=""/>
          <p:cNvSpPr/>
          <p:nvPr/>
        </p:nvSpPr>
        <p:spPr bwMode="auto">
          <a:xfrm rot="0" flipH="0" flipV="0">
            <a:off x="8364178" y="3509210"/>
            <a:ext cx="2155656" cy="6266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/>
              <a:t>Описание системы</a:t>
            </a:r>
            <a:endParaRPr/>
          </a:p>
        </p:txBody>
      </p:sp>
      <p:sp>
        <p:nvSpPr>
          <p:cNvPr id="974005034" name=""/>
          <p:cNvSpPr/>
          <p:nvPr/>
        </p:nvSpPr>
        <p:spPr bwMode="auto">
          <a:xfrm rot="0" flipH="0" flipV="0">
            <a:off x="8380888" y="4714373"/>
            <a:ext cx="2155656" cy="5995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800" b="0" i="0" u="none" strike="noStrike" cap="none" spc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Применение конфигурации</a:t>
            </a:r>
            <a:endParaRPr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097511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IV. </a:t>
            </a:r>
            <a:r>
              <a:rPr lang="ru-RU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Основные принципы </a:t>
            </a:r>
            <a:r>
              <a:rPr lang="en-US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Clyx:</a:t>
            </a:r>
            <a:br>
              <a:rPr lang="en-US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</a:br>
            <a:r>
              <a:rPr lang="ru-RU" sz="4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Декларативность</a:t>
            </a:r>
            <a:endParaRPr sz="4400"/>
          </a:p>
        </p:txBody>
      </p:sp>
      <p:sp>
        <p:nvSpPr>
          <p:cNvPr id="19558534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8" y="1535112"/>
            <a:ext cx="5386916" cy="639761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200"/>
              <a:t>Императивная система</a:t>
            </a:r>
            <a:r>
              <a:rPr sz="2200"/>
              <a:t> (archlinux)</a:t>
            </a:r>
            <a:endParaRPr sz="2200"/>
          </a:p>
        </p:txBody>
      </p:sp>
      <p:sp>
        <p:nvSpPr>
          <p:cNvPr id="55782382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8" y="2174873"/>
            <a:ext cx="5386916" cy="39512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>
              <a:defRPr/>
            </a:pP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Ввод комманд</a:t>
            </a: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:</a:t>
            </a:r>
            <a:endParaRPr sz="2400"/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sudo pacman –Syu</a:t>
            </a:r>
            <a:endParaRPr lang="en-US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sudo pacman –S postgresql</a:t>
            </a:r>
            <a:endParaRPr lang="en-US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sudo -iu postgres</a:t>
            </a:r>
            <a:endParaRPr lang="en-US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initdb --locale $LANG -E UTF8 -D '/var/lib/postgres/data' --data-checksums</a:t>
            </a:r>
            <a:endParaRPr lang="en-US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exit</a:t>
            </a:r>
            <a:endParaRPr lang="en-US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sudo systemctl enable postgresql</a:t>
            </a:r>
            <a:endParaRPr lang="en-US" sz="24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sudo systemctl start postgresql</a:t>
            </a:r>
            <a:endParaRPr sz="2400"/>
          </a:p>
          <a:p>
            <a:pPr>
              <a:defRPr/>
            </a:pPr>
            <a:endParaRPr/>
          </a:p>
        </p:txBody>
      </p:sp>
      <p:sp>
        <p:nvSpPr>
          <p:cNvPr id="107623576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9" y="1535112"/>
            <a:ext cx="5389032" cy="639761"/>
          </a:xfrm>
        </p:spPr>
        <p:txBody>
          <a:bodyPr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defRPr/>
            </a:pPr>
            <a:r>
              <a:rPr lang="ru-RU" sz="2200"/>
              <a:t>Декларативная система</a:t>
            </a:r>
            <a:endParaRPr sz="2200"/>
          </a:p>
        </p:txBody>
      </p:sp>
      <p:sp>
        <p:nvSpPr>
          <p:cNvPr id="186260740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9" y="2174873"/>
            <a:ext cx="5389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>
              <a:defRPr/>
            </a:pPr>
            <a:r>
              <a:rPr lang="ru-RU"/>
              <a:t>Написание конфигурации</a:t>
            </a:r>
            <a:r>
              <a:rPr lang="en-US"/>
              <a:t>:</a:t>
            </a:r>
            <a:endParaRPr lang="en-US"/>
          </a:p>
          <a:p>
            <a:pPr marL="0" indent="0">
              <a:buFont typeface="Arial"/>
              <a:buNone/>
              <a:defRPr/>
            </a:pPr>
            <a:r>
              <a:rPr/>
              <a:t>{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/>
              <a:t>    services.postgresql.enable = true;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/>
              <a:t>}</a:t>
            </a:r>
            <a:endParaRPr/>
          </a:p>
          <a:p>
            <a:pPr>
              <a:defRPr/>
            </a:pPr>
            <a:r>
              <a:rPr lang="ru-RU"/>
              <a:t>Применение конфигурации</a:t>
            </a:r>
            <a:endParaRPr/>
          </a:p>
        </p:txBody>
      </p:sp>
      <p:sp>
        <p:nvSpPr>
          <p:cNvPr id="1379655883" name=""/>
          <p:cNvSpPr txBox="1"/>
          <p:nvPr/>
        </p:nvSpPr>
        <p:spPr bwMode="auto">
          <a:xfrm rot="0" flipH="0" flipV="0">
            <a:off x="619999" y="1002631"/>
            <a:ext cx="3692154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/>
              <a:t>Пример</a:t>
            </a:r>
            <a:r>
              <a:rPr lang="en-US"/>
              <a:t>: </a:t>
            </a:r>
            <a:r>
              <a:rPr lang="ru-RU"/>
              <a:t>установка базы данных </a:t>
            </a:r>
            <a:r>
              <a:rPr lang="en-US"/>
              <a:t>postgresql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274039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IV. </a:t>
            </a:r>
            <a:r>
              <a:rPr lang="ru-RU"/>
              <a:t>Основные принципы </a:t>
            </a:r>
            <a:r>
              <a:rPr lang="en-US"/>
              <a:t>Clyx:</a:t>
            </a:r>
            <a:br>
              <a:rPr lang="en-US"/>
            </a:br>
            <a:r>
              <a:rPr lang="ru-RU"/>
              <a:t>Изоляция</a:t>
            </a:r>
            <a:endParaRPr/>
          </a:p>
        </p:txBody>
      </p:sp>
      <p:sp>
        <p:nvSpPr>
          <p:cNvPr id="292898782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349009" y="1600200"/>
            <a:ext cx="4225707" cy="486160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800" b="1"/>
              <a:t>Изоляция – </a:t>
            </a:r>
            <a:r>
              <a:rPr lang="ru-RU" sz="1800" b="0"/>
              <a:t>программы и их </a:t>
            </a:r>
            <a:r>
              <a:rPr lang="en-US" sz="1800" b="0"/>
              <a:t>runtime-</a:t>
            </a:r>
            <a:r>
              <a:rPr lang="ru-RU" sz="1800" b="0"/>
              <a:t>зависимости изолированны друг от друга, что </a:t>
            </a:r>
            <a:r>
              <a:rPr lang="ru-RU" sz="1800" b="1"/>
              <a:t>избавляет от конфликтов</a:t>
            </a:r>
            <a:r>
              <a:rPr lang="ru-RU" sz="1800" b="0"/>
              <a:t> зависимостей и позволяет хранить </a:t>
            </a:r>
            <a:r>
              <a:rPr lang="ru-RU" sz="1800" b="1"/>
              <a:t>несколько версий</a:t>
            </a:r>
            <a:r>
              <a:rPr lang="ru-RU" sz="1800" b="0"/>
              <a:t> одной программы</a:t>
            </a:r>
            <a:r>
              <a:rPr lang="ru-RU" sz="1800" b="0"/>
              <a:t>.</a:t>
            </a:r>
            <a:endParaRPr sz="1800" b="0"/>
          </a:p>
          <a:p>
            <a:pPr>
              <a:defRPr/>
            </a:pPr>
            <a:r>
              <a:rPr lang="ru-RU" sz="1800" b="0"/>
              <a:t>Таким образом, согласно примеру, программе 1 доступна только зависимость 1 и общая зависимость, программе 2 только общая зависимость</a:t>
            </a:r>
            <a:r>
              <a:rPr lang="ru-RU" sz="1800" b="0"/>
              <a:t> и зависимость 2, а программе 3 только программа 2 и зависимость 3, </a:t>
            </a:r>
            <a:r>
              <a:rPr lang="ru-RU" sz="1800" b="1"/>
              <a:t>ей не доступны даже зависимости своей зависимости</a:t>
            </a:r>
            <a:r>
              <a:rPr lang="ru-RU" sz="1800" b="0"/>
              <a:t>.</a:t>
            </a:r>
            <a:endParaRPr sz="1800" b="0"/>
          </a:p>
        </p:txBody>
      </p:sp>
      <p:pic>
        <p:nvPicPr>
          <p:cNvPr id="4426323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349275" y="2243662"/>
            <a:ext cx="1324513" cy="1324513"/>
          </a:xfrm>
          <a:prstGeom prst="rect">
            <a:avLst/>
          </a:prstGeom>
        </p:spPr>
      </p:pic>
      <p:pic>
        <p:nvPicPr>
          <p:cNvPr id="23241741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993596" y="1581405"/>
            <a:ext cx="1324513" cy="1324513"/>
          </a:xfrm>
          <a:prstGeom prst="rect">
            <a:avLst/>
          </a:prstGeom>
        </p:spPr>
      </p:pic>
      <p:pic>
        <p:nvPicPr>
          <p:cNvPr id="190237076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161486" y="3213774"/>
            <a:ext cx="1324513" cy="1324513"/>
          </a:xfrm>
          <a:prstGeom prst="rect">
            <a:avLst/>
          </a:prstGeom>
        </p:spPr>
      </p:pic>
      <p:pic>
        <p:nvPicPr>
          <p:cNvPr id="101542890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491880" y="4928902"/>
            <a:ext cx="1039302" cy="1039302"/>
          </a:xfrm>
          <a:prstGeom prst="rect">
            <a:avLst/>
          </a:prstGeom>
        </p:spPr>
      </p:pic>
      <p:pic>
        <p:nvPicPr>
          <p:cNvPr id="188684408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369563" y="4928902"/>
            <a:ext cx="1039302" cy="1039302"/>
          </a:xfrm>
          <a:prstGeom prst="rect">
            <a:avLst/>
          </a:prstGeom>
        </p:spPr>
      </p:pic>
      <p:pic>
        <p:nvPicPr>
          <p:cNvPr id="12655786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939516" y="3343530"/>
            <a:ext cx="1039302" cy="1039302"/>
          </a:xfrm>
          <a:prstGeom prst="rect">
            <a:avLst/>
          </a:prstGeom>
        </p:spPr>
      </p:pic>
      <p:pic>
        <p:nvPicPr>
          <p:cNvPr id="124555099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419865" y="4928902"/>
            <a:ext cx="1039302" cy="1039302"/>
          </a:xfrm>
          <a:prstGeom prst="rect">
            <a:avLst/>
          </a:prstGeom>
        </p:spPr>
      </p:pic>
      <p:sp>
        <p:nvSpPr>
          <p:cNvPr id="1867473941" name=""/>
          <p:cNvSpPr/>
          <p:nvPr/>
        </p:nvSpPr>
        <p:spPr bwMode="auto">
          <a:xfrm rot="0" flipH="0" flipV="0">
            <a:off x="5886650" y="3568176"/>
            <a:ext cx="221072" cy="1248238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5822129" name=""/>
          <p:cNvSpPr/>
          <p:nvPr/>
        </p:nvSpPr>
        <p:spPr bwMode="auto">
          <a:xfrm rot="19646652" flipH="0" flipV="0">
            <a:off x="6945309" y="3302236"/>
            <a:ext cx="221071" cy="1766253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70271397" name=""/>
          <p:cNvSpPr/>
          <p:nvPr/>
        </p:nvSpPr>
        <p:spPr bwMode="auto">
          <a:xfrm rot="1991830" flipH="0" flipV="0">
            <a:off x="8233308" y="4278173"/>
            <a:ext cx="221071" cy="726965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0148351" name=""/>
          <p:cNvSpPr/>
          <p:nvPr/>
        </p:nvSpPr>
        <p:spPr bwMode="auto">
          <a:xfrm rot="1991830" flipH="0" flipV="0">
            <a:off x="9080862" y="2634971"/>
            <a:ext cx="221070" cy="72696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29223690" name=""/>
          <p:cNvSpPr/>
          <p:nvPr/>
        </p:nvSpPr>
        <p:spPr bwMode="auto">
          <a:xfrm rot="19444720" flipH="0" flipV="0">
            <a:off x="9311113" y="4277253"/>
            <a:ext cx="221070" cy="72696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79955242" name=""/>
          <p:cNvSpPr/>
          <p:nvPr/>
        </p:nvSpPr>
        <p:spPr bwMode="auto">
          <a:xfrm rot="19444720" flipH="0" flipV="0">
            <a:off x="9952711" y="2658831"/>
            <a:ext cx="221070" cy="726964"/>
          </a:xfrm>
          <a:prstGeom prst="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173860" name=""/>
          <p:cNvSpPr txBox="1"/>
          <p:nvPr/>
        </p:nvSpPr>
        <p:spPr bwMode="auto">
          <a:xfrm rot="0" flipH="0" flipV="0">
            <a:off x="5293584" y="1967900"/>
            <a:ext cx="154090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Программа 1</a:t>
            </a:r>
            <a:endParaRPr sz="1600"/>
          </a:p>
        </p:txBody>
      </p:sp>
      <p:sp>
        <p:nvSpPr>
          <p:cNvPr id="1847244368" name=""/>
          <p:cNvSpPr txBox="1"/>
          <p:nvPr/>
        </p:nvSpPr>
        <p:spPr bwMode="auto">
          <a:xfrm rot="0" flipH="0" flipV="0">
            <a:off x="8885223" y="1347516"/>
            <a:ext cx="1541979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Программа 3</a:t>
            </a:r>
            <a:endParaRPr sz="1600"/>
          </a:p>
        </p:txBody>
      </p:sp>
      <p:sp>
        <p:nvSpPr>
          <p:cNvPr id="1443643190" name=""/>
          <p:cNvSpPr txBox="1"/>
          <p:nvPr/>
        </p:nvSpPr>
        <p:spPr bwMode="auto">
          <a:xfrm rot="0" flipH="0" flipV="0">
            <a:off x="7369563" y="3093359"/>
            <a:ext cx="1541979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Программа 2</a:t>
            </a:r>
            <a:endParaRPr sz="1600"/>
          </a:p>
        </p:txBody>
      </p:sp>
      <p:sp>
        <p:nvSpPr>
          <p:cNvPr id="1628790369" name=""/>
          <p:cNvSpPr txBox="1"/>
          <p:nvPr/>
        </p:nvSpPr>
        <p:spPr bwMode="auto">
          <a:xfrm rot="0" flipH="0" flipV="0">
            <a:off x="7118045" y="6126162"/>
            <a:ext cx="154845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Общая зависимость</a:t>
            </a:r>
            <a:endParaRPr sz="1600"/>
          </a:p>
        </p:txBody>
      </p:sp>
      <p:sp>
        <p:nvSpPr>
          <p:cNvPr id="1821458812" name=""/>
          <p:cNvSpPr txBox="1"/>
          <p:nvPr/>
        </p:nvSpPr>
        <p:spPr bwMode="auto">
          <a:xfrm rot="0" flipH="0" flipV="0">
            <a:off x="5213239" y="6126162"/>
            <a:ext cx="1701591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Зависимость 1</a:t>
            </a:r>
            <a:endParaRPr sz="1600"/>
          </a:p>
        </p:txBody>
      </p:sp>
      <p:sp>
        <p:nvSpPr>
          <p:cNvPr id="119024078" name=""/>
          <p:cNvSpPr txBox="1"/>
          <p:nvPr/>
        </p:nvSpPr>
        <p:spPr bwMode="auto">
          <a:xfrm rot="0" flipH="0" flipV="0">
            <a:off x="9084877" y="6080262"/>
            <a:ext cx="170267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Зависимость 2</a:t>
            </a:r>
            <a:endParaRPr sz="1600"/>
          </a:p>
        </p:txBody>
      </p:sp>
      <p:sp>
        <p:nvSpPr>
          <p:cNvPr id="993194731" name=""/>
          <p:cNvSpPr txBox="1"/>
          <p:nvPr/>
        </p:nvSpPr>
        <p:spPr bwMode="auto">
          <a:xfrm rot="0" flipH="0" flipV="0">
            <a:off x="10186977" y="4411227"/>
            <a:ext cx="1702310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/>
              <a:t>Зависимость 3</a:t>
            </a: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8606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 </a:t>
            </a:r>
            <a:r>
              <a:rPr lang="ru-RU"/>
              <a:t>Сферы применения </a:t>
            </a:r>
            <a:r>
              <a:rPr lang="en-US"/>
              <a:t>Clyx</a:t>
            </a:r>
            <a:endParaRPr/>
          </a:p>
        </p:txBody>
      </p:sp>
      <p:sp>
        <p:nvSpPr>
          <p:cNvPr id="42480657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77627082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350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IV. </a:t>
            </a:r>
            <a:r>
              <a:rPr lang="ru-RU"/>
              <a:t>Основные принципы </a:t>
            </a:r>
            <a:r>
              <a:rPr lang="en-US"/>
              <a:t>Clyx</a:t>
            </a:r>
            <a:endParaRPr/>
          </a:p>
        </p:txBody>
      </p:sp>
      <p:sp>
        <p:nvSpPr>
          <p:cNvPr id="162178266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600" b="1"/>
              <a:t>Изоляция – </a:t>
            </a:r>
            <a:r>
              <a:rPr lang="ru-RU" sz="1600" b="0"/>
              <a:t>программы и их </a:t>
            </a:r>
            <a:r>
              <a:rPr lang="en-US" sz="1600" b="0"/>
              <a:t>runtime-</a:t>
            </a:r>
            <a:r>
              <a:rPr lang="ru-RU" sz="1600" b="0"/>
              <a:t>зависимости изолированны друг от друга, что избавляет от конфликтов зависимостей и позволяет хранить несколько версий одной программы</a:t>
            </a:r>
            <a:endParaRPr lang="ru-RU" sz="1600" b="0"/>
          </a:p>
        </p:txBody>
      </p:sp>
      <p:sp>
        <p:nvSpPr>
          <p:cNvPr id="129809221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8" y="1600200"/>
            <a:ext cx="5384799" cy="452596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 lang="ru-RU" sz="1600" b="1"/>
              <a:t>Декларативность</a:t>
            </a:r>
            <a:r>
              <a:rPr lang="ru-RU" sz="1600" b="0"/>
              <a:t> – система </a:t>
            </a:r>
            <a:endParaRPr sz="16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725786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IV. </a:t>
            </a:r>
            <a:r>
              <a:rPr lang="ru-RU"/>
              <a:t>Отличие идей </a:t>
            </a:r>
            <a:r>
              <a:rPr lang="en-US"/>
              <a:t>Clyx </a:t>
            </a:r>
            <a:r>
              <a:rPr lang="ru-RU"/>
              <a:t>от </a:t>
            </a:r>
            <a:r>
              <a:rPr lang="en-US"/>
              <a:t>NixOS</a:t>
            </a:r>
            <a:r>
              <a:rPr lang="ru-RU"/>
              <a:t>, решение проблем</a:t>
            </a:r>
            <a:endParaRPr/>
          </a:p>
        </p:txBody>
      </p:sp>
      <p:sp>
        <p:nvSpPr>
          <p:cNvPr id="132943450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0220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V.I. </a:t>
            </a:r>
            <a:r>
              <a:rPr lang="ru-RU"/>
              <a:t>Итог – почему </a:t>
            </a:r>
            <a:r>
              <a:rPr lang="en-US"/>
              <a:t>Clyx</a:t>
            </a:r>
            <a:endParaRPr/>
          </a:p>
        </p:txBody>
      </p:sp>
      <p:sp>
        <p:nvSpPr>
          <p:cNvPr id="15096725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7171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V.II. </a:t>
            </a:r>
            <a:r>
              <a:rPr lang="ru-RU"/>
              <a:t>Итог – минусы </a:t>
            </a:r>
            <a:r>
              <a:rPr lang="en-US"/>
              <a:t>Clyx</a:t>
            </a:r>
            <a:endParaRPr/>
          </a:p>
        </p:txBody>
      </p:sp>
      <p:sp>
        <p:nvSpPr>
          <p:cNvPr id="15928771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0491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V.III. </a:t>
            </a:r>
            <a:r>
              <a:rPr lang="ru-RU"/>
              <a:t>Итог – сферы применения </a:t>
            </a:r>
            <a:r>
              <a:rPr lang="en-US"/>
              <a:t>Clyx</a:t>
            </a:r>
            <a:endParaRPr/>
          </a:p>
        </p:txBody>
      </p:sp>
      <p:sp>
        <p:nvSpPr>
          <p:cNvPr id="15617928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2026-10-20T13:20:17Z</dcterms:modified>
</cp:coreProperties>
</file>