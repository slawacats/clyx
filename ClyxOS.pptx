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jpg" ContentType="image/jpeg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21463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57084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29684382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2943463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222538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05053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426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912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72951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4774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2925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7196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A10986-6AAF-17A5-C9F4-9CCD5B1F6C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216FB3-DB42-6A08-4AF7-0F3AB439D9A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1802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8109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4582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705752-0C38-0F49-9A2C-27E409111F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3642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5987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00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3B4F46-A54C-563C-F60F-6A3D197967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8577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765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0721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CF294-21B3-F560-A21E-8107897AEA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8564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79410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1740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7439A2-67E8-0215-5218-5B32AFCD49D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52495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80528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3314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EF7C7D-E779-4B40-2F65-832F04C6C4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2529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7868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77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E3E1B-8D5A-2057-61F1-83FF160827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8356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6965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93835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1BBC87-CBAF-E622-B935-3DD98305F3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8930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41117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9513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51210B-7D10-78E5-DC7E-A4CE5232484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604766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43726683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58021488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09781565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20034623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62372629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3864482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064800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00480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264488901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787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61018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035459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934031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8250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596050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40810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607997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02200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9214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09920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1654803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9951499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7737371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3266101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763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873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928791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5887134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8181294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748130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4147934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2904160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34674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7332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0859569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6484749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77931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44778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4038570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90118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611105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40310134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1999634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7874407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591233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358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318907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9899137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13367224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061332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816243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69940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0107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6803688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2279777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38442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4966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51442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0335835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379064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534794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2553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428238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42909667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73697037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50524932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3465811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7615852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0944809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0172893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media1.svg"/><Relationship Id="rId8" Type="http://schemas.openxmlformats.org/officeDocument/2006/relationships/image" Target="../media/image5.jpg"/><Relationship Id="rId9" Type="http://schemas.openxmlformats.org/officeDocument/2006/relationships/image" Target="../media/image6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package" Target="../embeddings/Microsoft_Excel_Worksheet1.xlsx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63755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4595833" y="1637631"/>
            <a:ext cx="6720745" cy="118644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Clyx – </a:t>
            </a: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1729781235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3068959"/>
            <a:ext cx="6720745" cy="72007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4763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marL="570252" indent="-570252">
              <a:buAutoNum type="romanUcPeriod"/>
              <a:defRPr/>
            </a:pPr>
            <a:r>
              <a:rPr lang="ru-RU"/>
              <a:t>Существующие ОС на базе </a:t>
            </a:r>
            <a:r>
              <a:rPr lang="en-US"/>
              <a:t>linux</a:t>
            </a:r>
            <a:endParaRPr/>
          </a:p>
        </p:txBody>
      </p:sp>
      <p:sp>
        <p:nvSpPr>
          <p:cNvPr id="189257999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8219021" cy="278489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В настоящее время существует большое количество дистрибутивов Linux, 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таких как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Debian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Ubuntu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на базе 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debian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ArchLinux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NixOS 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и др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; 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из российских –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Alt linux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Astra linux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(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на базе 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debian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. </a:t>
            </a:r>
            <a:endParaRPr sz="2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Они отличаются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внешним видом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способом установки программ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стабильностью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требованиями к оборудованию и назначением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. </a:t>
            </a:r>
            <a:endParaRPr sz="2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7754868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15960" y="4164102"/>
            <a:ext cx="2444884" cy="1902120"/>
          </a:xfrm>
          <a:prstGeom prst="rect">
            <a:avLst/>
          </a:prstGeom>
        </p:spPr>
      </p:pic>
      <p:pic>
        <p:nvPicPr>
          <p:cNvPr id="187736642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760845" y="4858429"/>
            <a:ext cx="1721610" cy="1147739"/>
          </a:xfrm>
          <a:prstGeom prst="rect">
            <a:avLst/>
          </a:prstGeom>
        </p:spPr>
      </p:pic>
      <p:pic>
        <p:nvPicPr>
          <p:cNvPr id="210673288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719109" y="5115162"/>
            <a:ext cx="2640522" cy="875773"/>
          </a:xfrm>
          <a:prstGeom prst="rect">
            <a:avLst/>
          </a:prstGeom>
        </p:spPr>
      </p:pic>
      <p:pic>
        <p:nvPicPr>
          <p:cNvPr id="1534628498" name="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7244807" y="4648051"/>
            <a:ext cx="3167625" cy="1703024"/>
          </a:xfrm>
          <a:prstGeom prst="rect">
            <a:avLst/>
          </a:prstGeom>
        </p:spPr>
      </p:pic>
      <p:pic>
        <p:nvPicPr>
          <p:cNvPr id="136680095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9055645" y="2693897"/>
            <a:ext cx="2613697" cy="1470204"/>
          </a:xfrm>
          <a:prstGeom prst="rect">
            <a:avLst/>
          </a:prstGeom>
        </p:spPr>
      </p:pic>
      <p:pic>
        <p:nvPicPr>
          <p:cNvPr id="679470168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8828620" y="1600200"/>
            <a:ext cx="3067747" cy="11607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0376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_. </a:t>
            </a:r>
            <a:r>
              <a:rPr lang="ru-RU"/>
              <a:t>Основные принципы </a:t>
            </a:r>
            <a:r>
              <a:rPr lang="en-US"/>
              <a:t>Clyx</a:t>
            </a:r>
            <a:endParaRPr/>
          </a:p>
        </p:txBody>
      </p:sp>
      <p:sp>
        <p:nvSpPr>
          <p:cNvPr id="39052374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8" y="1600200"/>
            <a:ext cx="5384799" cy="45259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600" b="1"/>
              <a:t>Изоляция – </a:t>
            </a:r>
            <a:r>
              <a:rPr lang="ru-RU" sz="1600" b="0"/>
              <a:t>программы и их </a:t>
            </a:r>
            <a:r>
              <a:rPr lang="en-US" sz="1600" b="0"/>
              <a:t>runtime-</a:t>
            </a:r>
            <a:r>
              <a:rPr lang="ru-RU" sz="1600" b="0"/>
              <a:t>зависимости изолированны друг от друга, что избавляет от конфликтов зависимостей и позволяет хранить несколько версий одной программы</a:t>
            </a:r>
            <a:endParaRPr lang="ru-RU" sz="1600" b="0"/>
          </a:p>
        </p:txBody>
      </p:sp>
      <p:sp>
        <p:nvSpPr>
          <p:cNvPr id="146257550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8" y="1600200"/>
            <a:ext cx="5384799" cy="45259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600" b="1"/>
              <a:t>Декларативность</a:t>
            </a:r>
            <a:r>
              <a:rPr lang="ru-RU" sz="1600" b="0"/>
              <a:t> – система </a:t>
            </a:r>
            <a:endParaRPr sz="16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43904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_. </a:t>
            </a:r>
            <a:r>
              <a:rPr lang="ru-RU"/>
              <a:t>Основные принципы </a:t>
            </a:r>
            <a:r>
              <a:rPr lang="en-US"/>
              <a:t>Clyx</a:t>
            </a:r>
            <a:endParaRPr/>
          </a:p>
        </p:txBody>
      </p:sp>
      <p:sp>
        <p:nvSpPr>
          <p:cNvPr id="186355353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8" y="1600200"/>
            <a:ext cx="5384799" cy="45259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600" b="1"/>
              <a:t>Изоляция – </a:t>
            </a:r>
            <a:r>
              <a:rPr lang="ru-RU" sz="1600" b="0"/>
              <a:t>программы и их </a:t>
            </a:r>
            <a:r>
              <a:rPr lang="en-US" sz="1600" b="0"/>
              <a:t>runtime-</a:t>
            </a:r>
            <a:r>
              <a:rPr lang="ru-RU" sz="1600" b="0"/>
              <a:t>зависимости изолированны друг от друга, что избавляет от конфликтов зависимостей и позволяет хранить несколько версий одной программы</a:t>
            </a:r>
            <a:endParaRPr lang="ru-RU" sz="1600" b="0"/>
          </a:p>
        </p:txBody>
      </p:sp>
      <p:sp>
        <p:nvSpPr>
          <p:cNvPr id="6971399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8" y="1600200"/>
            <a:ext cx="5384799" cy="45259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600" b="1"/>
              <a:t>Декларативность</a:t>
            </a:r>
            <a:r>
              <a:rPr lang="ru-RU" sz="1600" b="0"/>
              <a:t> – система </a:t>
            </a:r>
            <a:endParaRPr sz="16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0630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_. </a:t>
            </a:r>
            <a:r>
              <a:rPr lang="ru-RU"/>
              <a:t>Основные принципы </a:t>
            </a:r>
            <a:r>
              <a:rPr lang="en-US"/>
              <a:t>Clyx: </a:t>
            </a:r>
            <a:r>
              <a:rPr lang="ru-RU"/>
              <a:t>Изоляция</a:t>
            </a:r>
            <a:endParaRPr/>
          </a:p>
        </p:txBody>
      </p:sp>
      <p:sp>
        <p:nvSpPr>
          <p:cNvPr id="1391179433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349009" y="1600200"/>
            <a:ext cx="4225707" cy="486160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800" b="1"/>
              <a:t>Изоляция – </a:t>
            </a:r>
            <a:r>
              <a:rPr lang="ru-RU" sz="1800" b="0"/>
              <a:t>программы и их </a:t>
            </a:r>
            <a:r>
              <a:rPr lang="en-US" sz="1800" b="0"/>
              <a:t>runtime-</a:t>
            </a:r>
            <a:r>
              <a:rPr lang="ru-RU" sz="1800" b="0"/>
              <a:t>зависимости изолированны друг от друга, что </a:t>
            </a:r>
            <a:r>
              <a:rPr lang="ru-RU" sz="1800" b="1"/>
              <a:t>избавляет от конфликтов</a:t>
            </a:r>
            <a:r>
              <a:rPr lang="ru-RU" sz="1800" b="0"/>
              <a:t> зависимостей и позволяет хранить </a:t>
            </a:r>
            <a:r>
              <a:rPr lang="ru-RU" sz="1800" b="1"/>
              <a:t>несколько версий</a:t>
            </a:r>
            <a:r>
              <a:rPr lang="ru-RU" sz="1800" b="0"/>
              <a:t> одной программы</a:t>
            </a:r>
            <a:r>
              <a:rPr lang="ru-RU" sz="1800" b="0"/>
              <a:t>.</a:t>
            </a:r>
            <a:endParaRPr sz="1800" b="0"/>
          </a:p>
          <a:p>
            <a:pPr>
              <a:defRPr/>
            </a:pPr>
            <a:r>
              <a:rPr lang="ru-RU" sz="1800" b="0"/>
              <a:t>Таким образом, согласно примеру, программе 1 доступна только зависимость 1 и общая зависимость, программе 2 только общая зависимость</a:t>
            </a:r>
            <a:r>
              <a:rPr lang="ru-RU" sz="1800" b="0"/>
              <a:t> и зависимость 2, а программе 3 только программа 2 и зависимость 3, </a:t>
            </a:r>
            <a:r>
              <a:rPr lang="ru-RU" sz="1800" b="1"/>
              <a:t>ей не доступны даже зависимости своей зависимости</a:t>
            </a:r>
            <a:r>
              <a:rPr lang="ru-RU" sz="1800" b="0"/>
              <a:t>.</a:t>
            </a:r>
            <a:endParaRPr sz="1800" b="0"/>
          </a:p>
        </p:txBody>
      </p:sp>
      <p:pic>
        <p:nvPicPr>
          <p:cNvPr id="157039260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349275" y="2243662"/>
            <a:ext cx="1324513" cy="1324513"/>
          </a:xfrm>
          <a:prstGeom prst="rect">
            <a:avLst/>
          </a:prstGeom>
        </p:spPr>
      </p:pic>
      <p:pic>
        <p:nvPicPr>
          <p:cNvPr id="130501299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993596" y="1581405"/>
            <a:ext cx="1324513" cy="1324513"/>
          </a:xfrm>
          <a:prstGeom prst="rect">
            <a:avLst/>
          </a:prstGeom>
        </p:spPr>
      </p:pic>
      <p:pic>
        <p:nvPicPr>
          <p:cNvPr id="107221831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161486" y="3213774"/>
            <a:ext cx="1324513" cy="1324513"/>
          </a:xfrm>
          <a:prstGeom prst="rect">
            <a:avLst/>
          </a:prstGeom>
        </p:spPr>
      </p:pic>
      <p:pic>
        <p:nvPicPr>
          <p:cNvPr id="28997095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491880" y="4928902"/>
            <a:ext cx="1039303" cy="1039303"/>
          </a:xfrm>
          <a:prstGeom prst="rect">
            <a:avLst/>
          </a:prstGeom>
        </p:spPr>
      </p:pic>
      <p:pic>
        <p:nvPicPr>
          <p:cNvPr id="184536823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369563" y="4928902"/>
            <a:ext cx="1039302" cy="1039302"/>
          </a:xfrm>
          <a:prstGeom prst="rect">
            <a:avLst/>
          </a:prstGeom>
        </p:spPr>
      </p:pic>
      <p:pic>
        <p:nvPicPr>
          <p:cNvPr id="44412325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939516" y="3343530"/>
            <a:ext cx="1039302" cy="1039302"/>
          </a:xfrm>
          <a:prstGeom prst="rect">
            <a:avLst/>
          </a:prstGeom>
        </p:spPr>
      </p:pic>
      <p:pic>
        <p:nvPicPr>
          <p:cNvPr id="74338827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419865" y="4928902"/>
            <a:ext cx="1039302" cy="1039302"/>
          </a:xfrm>
          <a:prstGeom prst="rect">
            <a:avLst/>
          </a:prstGeom>
        </p:spPr>
      </p:pic>
      <p:sp>
        <p:nvSpPr>
          <p:cNvPr id="2004638915" name=""/>
          <p:cNvSpPr/>
          <p:nvPr/>
        </p:nvSpPr>
        <p:spPr bwMode="auto">
          <a:xfrm rot="0" flipH="0" flipV="0">
            <a:off x="5886650" y="3568176"/>
            <a:ext cx="221072" cy="124823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47552102" name=""/>
          <p:cNvSpPr/>
          <p:nvPr/>
        </p:nvSpPr>
        <p:spPr bwMode="auto">
          <a:xfrm rot="19646654" flipH="0" flipV="0">
            <a:off x="6945309" y="3302236"/>
            <a:ext cx="221071" cy="176625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0818811" name=""/>
          <p:cNvSpPr/>
          <p:nvPr/>
        </p:nvSpPr>
        <p:spPr bwMode="auto">
          <a:xfrm rot="1991830" flipH="0" flipV="0">
            <a:off x="8233308" y="4278173"/>
            <a:ext cx="221071" cy="726965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51759563" name=""/>
          <p:cNvSpPr/>
          <p:nvPr/>
        </p:nvSpPr>
        <p:spPr bwMode="auto">
          <a:xfrm rot="1991830" flipH="0" flipV="0">
            <a:off x="9080862" y="2634971"/>
            <a:ext cx="221070" cy="726964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54779701" name=""/>
          <p:cNvSpPr/>
          <p:nvPr/>
        </p:nvSpPr>
        <p:spPr bwMode="auto">
          <a:xfrm rot="19444720" flipH="0" flipV="0">
            <a:off x="9311113" y="4277253"/>
            <a:ext cx="221070" cy="726964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99519873" name=""/>
          <p:cNvSpPr/>
          <p:nvPr/>
        </p:nvSpPr>
        <p:spPr bwMode="auto">
          <a:xfrm rot="19444720" flipH="0" flipV="0">
            <a:off x="9952711" y="2658831"/>
            <a:ext cx="221070" cy="726964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02234874" name=""/>
          <p:cNvSpPr txBox="1"/>
          <p:nvPr/>
        </p:nvSpPr>
        <p:spPr bwMode="auto">
          <a:xfrm rot="0" flipH="0" flipV="0">
            <a:off x="5293584" y="1967900"/>
            <a:ext cx="1540900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Программа 1</a:t>
            </a:r>
            <a:endParaRPr sz="1600"/>
          </a:p>
        </p:txBody>
      </p:sp>
      <p:sp>
        <p:nvSpPr>
          <p:cNvPr id="392157877" name=""/>
          <p:cNvSpPr txBox="1"/>
          <p:nvPr/>
        </p:nvSpPr>
        <p:spPr bwMode="auto">
          <a:xfrm rot="0" flipH="0" flipV="0">
            <a:off x="8885223" y="1347516"/>
            <a:ext cx="1541979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Программа 3</a:t>
            </a:r>
            <a:endParaRPr sz="1600"/>
          </a:p>
        </p:txBody>
      </p:sp>
      <p:sp>
        <p:nvSpPr>
          <p:cNvPr id="2046212899" name=""/>
          <p:cNvSpPr txBox="1"/>
          <p:nvPr/>
        </p:nvSpPr>
        <p:spPr bwMode="auto">
          <a:xfrm rot="0" flipH="0" flipV="0">
            <a:off x="7369563" y="3093359"/>
            <a:ext cx="1541979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Программа 2</a:t>
            </a:r>
            <a:endParaRPr sz="1600"/>
          </a:p>
        </p:txBody>
      </p:sp>
      <p:sp>
        <p:nvSpPr>
          <p:cNvPr id="1591690278" name=""/>
          <p:cNvSpPr txBox="1"/>
          <p:nvPr/>
        </p:nvSpPr>
        <p:spPr bwMode="auto">
          <a:xfrm rot="0" flipH="0" flipV="0">
            <a:off x="7118045" y="6126162"/>
            <a:ext cx="1548458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Общая зависимость</a:t>
            </a:r>
            <a:endParaRPr sz="1600"/>
          </a:p>
        </p:txBody>
      </p:sp>
      <p:sp>
        <p:nvSpPr>
          <p:cNvPr id="705628538" name=""/>
          <p:cNvSpPr txBox="1"/>
          <p:nvPr/>
        </p:nvSpPr>
        <p:spPr bwMode="auto">
          <a:xfrm rot="0" flipH="0" flipV="0">
            <a:off x="5213239" y="6126162"/>
            <a:ext cx="1701591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Зависимость 1</a:t>
            </a:r>
            <a:endParaRPr sz="1600"/>
          </a:p>
        </p:txBody>
      </p:sp>
      <p:sp>
        <p:nvSpPr>
          <p:cNvPr id="821389437" name=""/>
          <p:cNvSpPr txBox="1"/>
          <p:nvPr/>
        </p:nvSpPr>
        <p:spPr bwMode="auto">
          <a:xfrm rot="0" flipH="0" flipV="0">
            <a:off x="9084877" y="6080262"/>
            <a:ext cx="1702670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Зависимость 2</a:t>
            </a:r>
            <a:endParaRPr sz="1600"/>
          </a:p>
        </p:txBody>
      </p:sp>
      <p:sp>
        <p:nvSpPr>
          <p:cNvPr id="8913289" name=""/>
          <p:cNvSpPr txBox="1"/>
          <p:nvPr/>
        </p:nvSpPr>
        <p:spPr bwMode="auto">
          <a:xfrm rot="0" flipH="0" flipV="0">
            <a:off x="10186977" y="4411227"/>
            <a:ext cx="1702310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Зависимость 3</a:t>
            </a: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66039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II. </a:t>
            </a:r>
            <a:r>
              <a:rPr lang="ru-RU"/>
              <a:t>Проблемы существующих ОС</a:t>
            </a:r>
            <a:endParaRPr/>
          </a:p>
        </p:txBody>
      </p:sp>
      <p:sp>
        <p:nvSpPr>
          <p:cNvPr id="192150445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193" y="1600200"/>
            <a:ext cx="3515825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Большинство решений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либо сложны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для массового пользователя,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либо ориентированы на узкие сценарии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– разработку, серверы, контейнеры.</a:t>
            </a:r>
            <a:endParaRPr sz="2200"/>
          </a:p>
        </p:txBody>
      </p:sp>
      <p:graphicFrame>
        <p:nvGraphicFramePr>
          <p:cNvPr id="2010654640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4035500" y="1417637"/>
          <a:ext cx="7546897" cy="3129201"/>
        </p:xfrm>
        <a:graphic>
          <a:graphicData uri="http://schemas.openxmlformats.org/presentationml/2006/ole">
            <p:oleObj name="oleObj" r:id="rId4" imgW="4295775" imgH="1781175" progId="Excel.Sheet.12">
              <p:embed/>
              <p:pic>
                <p:nvPicPr>
                  <p:cNvPr id="2010654640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4035500" y="1417637"/>
                    <a:ext cx="7546897" cy="3129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1435675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sz="3800"/>
              <a:t>III. </a:t>
            </a:r>
            <a:r>
              <a:rPr lang="ru-RU" sz="3800"/>
              <a:t>Сравнение</a:t>
            </a:r>
            <a:r>
              <a:rPr lang="en-US" sz="3800"/>
              <a:t> </a:t>
            </a:r>
            <a:r>
              <a:rPr lang="ru-RU" sz="3800"/>
              <a:t>декларативных ОС </a:t>
            </a:r>
            <a:r>
              <a:rPr lang="ru-RU" sz="3800"/>
              <a:t>с другими дистрибутивами (на примере </a:t>
            </a:r>
            <a:r>
              <a:rPr lang="en-US" sz="3800"/>
              <a:t>NixOS</a:t>
            </a:r>
            <a:r>
              <a:rPr lang="ru-RU" sz="3800"/>
              <a:t>)</a:t>
            </a:r>
            <a:endParaRPr sz="3800"/>
          </a:p>
        </p:txBody>
      </p:sp>
      <p:sp>
        <p:nvSpPr>
          <p:cNvPr id="124971586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2400"/>
              <a:t>В отличие от классических дистрибутивов, ОС подобные </a:t>
            </a:r>
            <a:r>
              <a:rPr lang="en-US" sz="2400"/>
              <a:t>NixOS </a:t>
            </a:r>
            <a:r>
              <a:rPr lang="ru-RU" sz="2400"/>
              <a:t>управляются конфигурацией, к которой система приводится автоматически, а не командами вручную</a:t>
            </a:r>
            <a:r>
              <a:rPr lang="ru-RU" sz="2400"/>
              <a:t>.</a:t>
            </a:r>
            <a:endParaRPr sz="2400"/>
          </a:p>
          <a:p>
            <a:pPr>
              <a:defRPr/>
            </a:pPr>
            <a:r>
              <a:rPr lang="ru-RU" sz="2400"/>
              <a:t>Плюсы </a:t>
            </a:r>
            <a:r>
              <a:rPr lang="en-US" sz="2400"/>
              <a:t>NixOS:</a:t>
            </a:r>
            <a:endParaRPr sz="2400"/>
          </a:p>
          <a:p>
            <a:pPr lvl="1">
              <a:defRPr/>
            </a:pPr>
            <a:r>
              <a:rPr lang="ru-RU" sz="2400"/>
              <a:t>Пакеты изолированны друг от друга, конфликты архитектурно невозможны.</a:t>
            </a:r>
            <a:endParaRPr sz="2400"/>
          </a:p>
          <a:p>
            <a:pPr lvl="1">
              <a:defRPr/>
            </a:pPr>
            <a:r>
              <a:rPr lang="ru-RU" sz="2400"/>
              <a:t>Возможность отката к предыдущей версии конфигурации.</a:t>
            </a:r>
            <a:endParaRPr lang="ru-RU" sz="2400"/>
          </a:p>
          <a:p>
            <a:pPr lvl="1">
              <a:defRPr/>
            </a:pPr>
            <a:r>
              <a:rPr lang="ru-RU" sz="2400"/>
              <a:t>Из одной конфигурации можно развернуть множество одинаковых машин, например, для офиса или кластеров серверов</a:t>
            </a:r>
            <a:endParaRPr lang="ru-RU" sz="2400"/>
          </a:p>
          <a:p>
            <a:pPr lvl="0">
              <a:defRPr/>
            </a:pPr>
            <a:r>
              <a:rPr lang="ru-RU" sz="2800"/>
              <a:t>Минусы </a:t>
            </a:r>
            <a:r>
              <a:rPr lang="en-US" sz="2800"/>
              <a:t>NixOS:</a:t>
            </a:r>
            <a:endParaRPr lang="en-US" sz="2800"/>
          </a:p>
          <a:p>
            <a:pPr lvl="1">
              <a:defRPr/>
            </a:pPr>
            <a:r>
              <a:rPr lang="ru-RU" sz="2400"/>
              <a:t>Высокий порог входа, необходимость учить язык программирования </a:t>
            </a:r>
            <a:r>
              <a:rPr lang="en-US" sz="2400"/>
              <a:t>nix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588513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/>
              <a:t>IV. </a:t>
            </a:r>
            <a:r>
              <a:rPr lang="ru-RU"/>
              <a:t>Отличие идей </a:t>
            </a:r>
            <a:r>
              <a:rPr lang="en-US"/>
              <a:t>Clyx </a:t>
            </a:r>
            <a:r>
              <a:rPr lang="ru-RU"/>
              <a:t>от </a:t>
            </a:r>
            <a:r>
              <a:rPr lang="en-US"/>
              <a:t>NixOS</a:t>
            </a:r>
            <a:r>
              <a:rPr lang="ru-RU"/>
              <a:t>, решение проблем</a:t>
            </a:r>
            <a:endParaRPr/>
          </a:p>
        </p:txBody>
      </p:sp>
      <p:sp>
        <p:nvSpPr>
          <p:cNvPr id="80127941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6987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V.I. </a:t>
            </a:r>
            <a:r>
              <a:rPr lang="ru-RU"/>
              <a:t>Итог – почему </a:t>
            </a:r>
            <a:r>
              <a:rPr lang="en-US"/>
              <a:t>Clyx</a:t>
            </a:r>
            <a:endParaRPr/>
          </a:p>
        </p:txBody>
      </p:sp>
      <p:sp>
        <p:nvSpPr>
          <p:cNvPr id="163319983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4011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V.II. </a:t>
            </a:r>
            <a:r>
              <a:rPr lang="ru-RU"/>
              <a:t>Итог – минусы </a:t>
            </a:r>
            <a:r>
              <a:rPr lang="en-US"/>
              <a:t>Clyx</a:t>
            </a:r>
            <a:endParaRPr/>
          </a:p>
        </p:txBody>
      </p:sp>
      <p:sp>
        <p:nvSpPr>
          <p:cNvPr id="178254544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4843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V.III. </a:t>
            </a:r>
            <a:r>
              <a:rPr lang="ru-RU"/>
              <a:t>Итог – сферы применения </a:t>
            </a:r>
            <a:r>
              <a:rPr lang="en-US"/>
              <a:t>Clyx</a:t>
            </a:r>
            <a:endParaRPr/>
          </a:p>
        </p:txBody>
      </p:sp>
      <p:sp>
        <p:nvSpPr>
          <p:cNvPr id="7978418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2026-10-12T21:02:51Z</dcterms:modified>
</cp:coreProperties>
</file>