
<file path=[Content_Types].xml><?xml version="1.0" encoding="utf-8"?>
<Types xmlns="http://schemas.openxmlformats.org/package/2006/content-types">
  <Default Extension="xml" ContentType="application/xml"/>
  <Default Extension="xlsx" ContentType="application/vnd.openxmlformats-officedocument.spreadsheetml.sheet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 /><Relationship Id="rId14" Type="http://schemas.openxmlformats.org/officeDocument/2006/relationships/tableStyles" Target="tableStyles.xml" /><Relationship Id="rId1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11135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40053685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956753693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648221377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5551687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78250022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73998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92741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619410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5A10986-6AAF-17A5-C9F4-9CCD5B1F6C1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9CF294-21B3-F560-A21E-8107897AEAD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27439A2-67E8-0215-5218-5B32AFCD49D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BEF7C7D-E779-4B40-2F65-832F04C6C48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E3E1B-8D5A-2057-61F1-83FF1608270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1BBC87-CBAF-E622-B935-3DD98305F33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251210B-7D10-78E5-DC7E-A4CE5232484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210366" name="Shape 1059"/>
          <p:cNvSpPr>
            <a:spLocks noChangeArrowheads="1" noGrp="1"/>
          </p:cNvSpPr>
          <p:nvPr userDrawn="1"/>
        </p:nvSpPr>
        <p:spPr bwMode="auto">
          <a:xfrm>
            <a:off x="2396066" y="2291401"/>
            <a:ext cx="5452533" cy="416511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112" y="3116"/>
                </a:moveTo>
                <a:lnTo>
                  <a:pt x="22112" y="3116"/>
                </a:lnTo>
                <a:cubicBezTo>
                  <a:pt x="22112" y="3116"/>
                  <a:pt x="27356" y="0"/>
                  <a:pt x="30300" y="4263"/>
                </a:cubicBezTo>
                <a:lnTo>
                  <a:pt x="30300" y="4263"/>
                </a:lnTo>
                <a:cubicBezTo>
                  <a:pt x="33277" y="8577"/>
                  <a:pt x="36666" y="13779"/>
                  <a:pt x="39369" y="17410"/>
                </a:cubicBezTo>
                <a:lnTo>
                  <a:pt x="39369" y="17410"/>
                </a:lnTo>
                <a:cubicBezTo>
                  <a:pt x="41761" y="20624"/>
                  <a:pt x="43200" y="22708"/>
                  <a:pt x="40979" y="26940"/>
                </a:cubicBezTo>
                <a:lnTo>
                  <a:pt x="40979" y="26940"/>
                </a:lnTo>
                <a:cubicBezTo>
                  <a:pt x="39655" y="29461"/>
                  <a:pt x="35076" y="35072"/>
                  <a:pt x="32639" y="38623"/>
                </a:cubicBezTo>
                <a:lnTo>
                  <a:pt x="32639" y="38623"/>
                </a:lnTo>
                <a:cubicBezTo>
                  <a:pt x="30200" y="42175"/>
                  <a:pt x="26202" y="43200"/>
                  <a:pt x="23268" y="42185"/>
                </a:cubicBezTo>
                <a:lnTo>
                  <a:pt x="23268" y="42185"/>
                </a:lnTo>
                <a:cubicBezTo>
                  <a:pt x="20331" y="41168"/>
                  <a:pt x="11584" y="38623"/>
                  <a:pt x="6213" y="36974"/>
                </a:cubicBezTo>
                <a:lnTo>
                  <a:pt x="6213" y="36974"/>
                </a:lnTo>
                <a:cubicBezTo>
                  <a:pt x="1431" y="35502"/>
                  <a:pt x="0" y="32900"/>
                  <a:pt x="214" y="31157"/>
                </a:cubicBezTo>
                <a:lnTo>
                  <a:pt x="214" y="31157"/>
                </a:lnTo>
                <a:cubicBezTo>
                  <a:pt x="760" y="26703"/>
                  <a:pt x="1113" y="19920"/>
                  <a:pt x="1214" y="16042"/>
                </a:cubicBezTo>
                <a:lnTo>
                  <a:pt x="1214" y="16042"/>
                </a:lnTo>
                <a:cubicBezTo>
                  <a:pt x="1303" y="12626"/>
                  <a:pt x="4203" y="11313"/>
                  <a:pt x="6907" y="9989"/>
                </a:cubicBezTo>
                <a:lnTo>
                  <a:pt x="6907" y="9989"/>
                </a:lnTo>
                <a:cubicBezTo>
                  <a:pt x="9245" y="8843"/>
                  <a:pt x="19774" y="4261"/>
                  <a:pt x="22112" y="3116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85610297" name="Shape 1060"/>
          <p:cNvSpPr>
            <a:spLocks noChangeArrowheads="1" noGrp="1"/>
          </p:cNvSpPr>
          <p:nvPr userDrawn="1"/>
        </p:nvSpPr>
        <p:spPr bwMode="auto">
          <a:xfrm>
            <a:off x="1309514" y="1839834"/>
            <a:ext cx="4011787" cy="131432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0162" y="13104"/>
                </a:moveTo>
                <a:lnTo>
                  <a:pt x="40162" y="13104"/>
                </a:lnTo>
                <a:cubicBezTo>
                  <a:pt x="36799" y="16736"/>
                  <a:pt x="26204" y="28154"/>
                  <a:pt x="22676" y="31251"/>
                </a:cubicBezTo>
                <a:lnTo>
                  <a:pt x="22676" y="31251"/>
                </a:lnTo>
                <a:cubicBezTo>
                  <a:pt x="18513" y="34899"/>
                  <a:pt x="15093" y="37527"/>
                  <a:pt x="13136" y="38511"/>
                </a:cubicBezTo>
                <a:lnTo>
                  <a:pt x="13136" y="38511"/>
                </a:lnTo>
                <a:cubicBezTo>
                  <a:pt x="10861" y="39650"/>
                  <a:pt x="0" y="43200"/>
                  <a:pt x="422" y="38511"/>
                </a:cubicBezTo>
                <a:lnTo>
                  <a:pt x="422" y="38511"/>
                </a:lnTo>
                <a:cubicBezTo>
                  <a:pt x="750" y="34836"/>
                  <a:pt x="12785" y="17028"/>
                  <a:pt x="15584" y="14358"/>
                </a:cubicBezTo>
                <a:lnTo>
                  <a:pt x="15584" y="14358"/>
                </a:lnTo>
                <a:cubicBezTo>
                  <a:pt x="18382" y="11693"/>
                  <a:pt x="34508" y="0"/>
                  <a:pt x="36286" y="2133"/>
                </a:cubicBezTo>
                <a:lnTo>
                  <a:pt x="36286" y="2133"/>
                </a:lnTo>
                <a:cubicBezTo>
                  <a:pt x="38064" y="4272"/>
                  <a:pt x="43200" y="9825"/>
                  <a:pt x="40162" y="1310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83242917" name="Shape 1061"/>
          <p:cNvSpPr>
            <a:spLocks noChangeArrowheads="1" noGrp="1"/>
          </p:cNvSpPr>
          <p:nvPr userDrawn="1"/>
        </p:nvSpPr>
        <p:spPr bwMode="auto">
          <a:xfrm>
            <a:off x="6567031" y="4629133"/>
            <a:ext cx="5395523" cy="2231707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42680" y="32337"/>
                  <a:pt x="42264" y="24810"/>
                  <a:pt x="41982" y="22533"/>
                </a:cubicBezTo>
                <a:lnTo>
                  <a:pt x="41982" y="22533"/>
                </a:lnTo>
                <a:cubicBezTo>
                  <a:pt x="41353" y="17445"/>
                  <a:pt x="31020" y="10782"/>
                  <a:pt x="25434" y="7567"/>
                </a:cubicBezTo>
                <a:lnTo>
                  <a:pt x="25434" y="7567"/>
                </a:lnTo>
                <a:cubicBezTo>
                  <a:pt x="20461" y="4707"/>
                  <a:pt x="15752" y="0"/>
                  <a:pt x="10688" y="12771"/>
                </a:cubicBezTo>
                <a:lnTo>
                  <a:pt x="10688" y="12771"/>
                </a:lnTo>
                <a:cubicBezTo>
                  <a:pt x="5409" y="26085"/>
                  <a:pt x="2329" y="33891"/>
                  <a:pt x="451" y="39632"/>
                </a:cubicBezTo>
                <a:lnTo>
                  <a:pt x="451" y="39632"/>
                </a:lnTo>
                <a:cubicBezTo>
                  <a:pt x="180" y="40459"/>
                  <a:pt x="44" y="41820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458988165" name="Shape 1062"/>
          <p:cNvSpPr>
            <a:spLocks noChangeArrowheads="1" noGrp="1"/>
          </p:cNvSpPr>
          <p:nvPr userDrawn="1"/>
        </p:nvSpPr>
        <p:spPr bwMode="auto">
          <a:xfrm>
            <a:off x="389187" y="6100774"/>
            <a:ext cx="4968521" cy="75999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37750" y="34083"/>
                  <a:pt x="28707" y="20178"/>
                  <a:pt x="28707" y="20178"/>
                </a:cubicBezTo>
                <a:lnTo>
                  <a:pt x="28707" y="20178"/>
                </a:lnTo>
                <a:cubicBezTo>
                  <a:pt x="23196" y="11772"/>
                  <a:pt x="17935" y="0"/>
                  <a:pt x="14588" y="1341"/>
                </a:cubicBezTo>
                <a:lnTo>
                  <a:pt x="14588" y="1341"/>
                </a:lnTo>
                <a:cubicBezTo>
                  <a:pt x="11240" y="2673"/>
                  <a:pt x="6350" y="22671"/>
                  <a:pt x="1602" y="37718"/>
                </a:cubicBezTo>
                <a:lnTo>
                  <a:pt x="1602" y="37718"/>
                </a:lnTo>
                <a:cubicBezTo>
                  <a:pt x="1072" y="39393"/>
                  <a:pt x="536" y="41175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900990903" name="Shape 1063"/>
          <p:cNvSpPr>
            <a:spLocks noChangeArrowheads="1" noGrp="1"/>
          </p:cNvSpPr>
          <p:nvPr userDrawn="1"/>
        </p:nvSpPr>
        <p:spPr bwMode="auto">
          <a:xfrm>
            <a:off x="0" y="3254701"/>
            <a:ext cx="2099733" cy="3343682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43200"/>
                </a:moveTo>
                <a:lnTo>
                  <a:pt x="0" y="43200"/>
                </a:lnTo>
                <a:cubicBezTo>
                  <a:pt x="10450" y="39319"/>
                  <a:pt x="26476" y="34991"/>
                  <a:pt x="31760" y="32779"/>
                </a:cubicBezTo>
                <a:lnTo>
                  <a:pt x="31760" y="32779"/>
                </a:lnTo>
                <a:cubicBezTo>
                  <a:pt x="38554" y="29929"/>
                  <a:pt x="35982" y="23868"/>
                  <a:pt x="39587" y="11934"/>
                </a:cubicBezTo>
                <a:lnTo>
                  <a:pt x="39587" y="11934"/>
                </a:lnTo>
                <a:cubicBezTo>
                  <a:pt x="43199" y="0"/>
                  <a:pt x="33409" y="2565"/>
                  <a:pt x="25082" y="2041"/>
                </a:cubicBezTo>
                <a:lnTo>
                  <a:pt x="25082" y="2041"/>
                </a:lnTo>
                <a:cubicBezTo>
                  <a:pt x="14497" y="1374"/>
                  <a:pt x="7053" y="4621"/>
                  <a:pt x="0" y="7243"/>
                </a:cubicBezTo>
                <a:lnTo>
                  <a:pt x="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026894816" name="Subtitle 2"/>
          <p:cNvSpPr>
            <a:spLocks noGrp="1"/>
          </p:cNvSpPr>
          <p:nvPr>
            <p:ph type="subTitle" idx="1"/>
          </p:nvPr>
        </p:nvSpPr>
        <p:spPr bwMode="auto">
          <a:xfrm>
            <a:off x="4655839" y="2708919"/>
            <a:ext cx="6720746" cy="720079"/>
          </a:xfrm>
        </p:spPr>
        <p:txBody>
          <a:bodyPr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1733484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62136873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49970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  <p:sp>
        <p:nvSpPr>
          <p:cNvPr id="1717012898" name="Title 6"/>
          <p:cNvSpPr>
            <a:spLocks noGrp="1"/>
          </p:cNvSpPr>
          <p:nvPr>
            <p:ph type="title"/>
          </p:nvPr>
        </p:nvSpPr>
        <p:spPr bwMode="auto">
          <a:xfrm>
            <a:off x="4595833" y="1808820"/>
            <a:ext cx="6720746" cy="720079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475891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4260675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4092757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62849275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45562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3904767" name="Title 1"/>
          <p:cNvSpPr>
            <a:spLocks noGrp="1"/>
          </p:cNvSpPr>
          <p:nvPr>
            <p:ph type="title"/>
          </p:nvPr>
        </p:nvSpPr>
        <p:spPr bwMode="auto">
          <a:xfrm>
            <a:off x="963083" y="4406901"/>
            <a:ext cx="10363199" cy="13620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39213605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63083" y="2906713"/>
            <a:ext cx="10363199" cy="150018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5624899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10423227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10511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856311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110054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67523211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6222499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96982292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24624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267444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8664874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34060453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17487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075207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70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738865245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70" y="217487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80578255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4192751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74690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435552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8660350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60113949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38538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262738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33659482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376119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6800870" name="Title 1"/>
          <p:cNvSpPr>
            <a:spLocks noGrp="1"/>
          </p:cNvSpPr>
          <p:nvPr>
            <p:ph type="title"/>
          </p:nvPr>
        </p:nvSpPr>
        <p:spPr bwMode="auto">
          <a:xfrm>
            <a:off x="609603" y="27304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030652192" name="Content Placeholder 2"/>
          <p:cNvSpPr>
            <a:spLocks noGrp="1"/>
          </p:cNvSpPr>
          <p:nvPr>
            <p:ph idx="1"/>
          </p:nvPr>
        </p:nvSpPr>
        <p:spPr bwMode="auto">
          <a:xfrm>
            <a:off x="4766732" y="273051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708455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09603" y="1435102"/>
            <a:ext cx="4011084" cy="46910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09822403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66200534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90316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7011926" name="Title 1"/>
          <p:cNvSpPr>
            <a:spLocks noGrp="1"/>
          </p:cNvSpPr>
          <p:nvPr>
            <p:ph type="title"/>
          </p:nvPr>
        </p:nvSpPr>
        <p:spPr bwMode="auto">
          <a:xfrm>
            <a:off x="2389717" y="4800601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736260978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612774"/>
            <a:ext cx="7315200" cy="41147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5900852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4194712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54386685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50946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98169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742323020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41259062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13075311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377547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60751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274639"/>
            <a:ext cx="2743200" cy="5851525"/>
          </a:xfrm>
        </p:spPr>
        <p:txBody>
          <a:bodyPr vert="eaVert"/>
          <a:lstStyle>
            <a:lvl1pPr algn="ct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14279711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274639"/>
            <a:ext cx="8026399" cy="5851525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20837778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56981964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302080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4019679" name="Shape 1059"/>
          <p:cNvSpPr>
            <a:spLocks noChangeArrowheads="1" noGrp="1"/>
          </p:cNvSpPr>
          <p:nvPr userDrawn="1"/>
        </p:nvSpPr>
        <p:spPr bwMode="auto">
          <a:xfrm>
            <a:off x="4976706" y="2"/>
            <a:ext cx="3058159" cy="89379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0"/>
                </a:moveTo>
                <a:lnTo>
                  <a:pt x="0" y="0"/>
                </a:lnTo>
                <a:cubicBezTo>
                  <a:pt x="1690" y="6213"/>
                  <a:pt x="3698" y="13338"/>
                  <a:pt x="6091" y="21902"/>
                </a:cubicBezTo>
                <a:lnTo>
                  <a:pt x="6091" y="21902"/>
                </a:lnTo>
                <a:cubicBezTo>
                  <a:pt x="12043" y="43199"/>
                  <a:pt x="17573" y="35347"/>
                  <a:pt x="23417" y="30579"/>
                </a:cubicBezTo>
                <a:lnTo>
                  <a:pt x="23417" y="30579"/>
                </a:lnTo>
                <a:cubicBezTo>
                  <a:pt x="29984" y="25223"/>
                  <a:pt x="42123" y="14119"/>
                  <a:pt x="42860" y="5640"/>
                </a:cubicBezTo>
                <a:lnTo>
                  <a:pt x="42860" y="5640"/>
                </a:lnTo>
                <a:cubicBezTo>
                  <a:pt x="42960" y="4507"/>
                  <a:pt x="43072" y="2479"/>
                  <a:pt x="43200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58638138" name="Shape 1060"/>
          <p:cNvSpPr>
            <a:spLocks noChangeArrowheads="1" noGrp="1"/>
          </p:cNvSpPr>
          <p:nvPr userDrawn="1"/>
        </p:nvSpPr>
        <p:spPr bwMode="auto">
          <a:xfrm>
            <a:off x="-24679" y="1"/>
            <a:ext cx="1399539" cy="179755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1743" y="2484"/>
                </a:moveTo>
                <a:lnTo>
                  <a:pt x="31743" y="2484"/>
                </a:lnTo>
                <a:cubicBezTo>
                  <a:pt x="30428" y="1799"/>
                  <a:pt x="28450" y="1080"/>
                  <a:pt x="26054" y="0"/>
                </a:cubicBezTo>
                <a:lnTo>
                  <a:pt x="0" y="0"/>
                </a:lnTo>
                <a:lnTo>
                  <a:pt x="0" y="34200"/>
                </a:lnTo>
                <a:lnTo>
                  <a:pt x="0" y="34200"/>
                </a:lnTo>
                <a:cubicBezTo>
                  <a:pt x="7029" y="37461"/>
                  <a:pt x="14504" y="41491"/>
                  <a:pt x="25070" y="40664"/>
                </a:cubicBezTo>
                <a:lnTo>
                  <a:pt x="25070" y="40664"/>
                </a:lnTo>
                <a:cubicBezTo>
                  <a:pt x="33399" y="40015"/>
                  <a:pt x="43200" y="43200"/>
                  <a:pt x="39593" y="28375"/>
                </a:cubicBezTo>
                <a:lnTo>
                  <a:pt x="39593" y="28375"/>
                </a:lnTo>
                <a:cubicBezTo>
                  <a:pt x="35986" y="13550"/>
                  <a:pt x="38530" y="6023"/>
                  <a:pt x="31743" y="248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34367174" name="Shape 1061"/>
          <p:cNvSpPr>
            <a:spLocks noChangeArrowheads="1" noGrp="1"/>
          </p:cNvSpPr>
          <p:nvPr userDrawn="1"/>
        </p:nvSpPr>
        <p:spPr bwMode="auto">
          <a:xfrm>
            <a:off x="1637457" y="1"/>
            <a:ext cx="3839633" cy="260965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2864" y="0"/>
                </a:moveTo>
                <a:lnTo>
                  <a:pt x="10583" y="0"/>
                </a:lnTo>
                <a:lnTo>
                  <a:pt x="10583" y="0"/>
                </a:lnTo>
                <a:cubicBezTo>
                  <a:pt x="9017" y="532"/>
                  <a:pt x="7515" y="1058"/>
                  <a:pt x="6214" y="1509"/>
                </a:cubicBezTo>
                <a:lnTo>
                  <a:pt x="6214" y="1509"/>
                </a:lnTo>
                <a:cubicBezTo>
                  <a:pt x="1428" y="3166"/>
                  <a:pt x="0" y="6109"/>
                  <a:pt x="212" y="8072"/>
                </a:cubicBezTo>
                <a:lnTo>
                  <a:pt x="212" y="8072"/>
                </a:lnTo>
                <a:cubicBezTo>
                  <a:pt x="758" y="13092"/>
                  <a:pt x="1111" y="20742"/>
                  <a:pt x="1212" y="25114"/>
                </a:cubicBezTo>
                <a:lnTo>
                  <a:pt x="1212" y="25114"/>
                </a:lnTo>
                <a:cubicBezTo>
                  <a:pt x="1301" y="28962"/>
                  <a:pt x="4204" y="30446"/>
                  <a:pt x="6906" y="31937"/>
                </a:cubicBezTo>
                <a:lnTo>
                  <a:pt x="6906" y="31937"/>
                </a:lnTo>
                <a:cubicBezTo>
                  <a:pt x="9246" y="33229"/>
                  <a:pt x="19775" y="38395"/>
                  <a:pt x="22112" y="39685"/>
                </a:cubicBezTo>
                <a:lnTo>
                  <a:pt x="22112" y="39685"/>
                </a:lnTo>
                <a:cubicBezTo>
                  <a:pt x="22112" y="39685"/>
                  <a:pt x="27355" y="43200"/>
                  <a:pt x="30298" y="38395"/>
                </a:cubicBezTo>
                <a:lnTo>
                  <a:pt x="30298" y="38395"/>
                </a:lnTo>
                <a:cubicBezTo>
                  <a:pt x="33277" y="33533"/>
                  <a:pt x="36665" y="27667"/>
                  <a:pt x="39367" y="23576"/>
                </a:cubicBezTo>
                <a:lnTo>
                  <a:pt x="39367" y="23576"/>
                </a:lnTo>
                <a:cubicBezTo>
                  <a:pt x="41761" y="19953"/>
                  <a:pt x="43200" y="17587"/>
                  <a:pt x="40977" y="12816"/>
                </a:cubicBezTo>
                <a:lnTo>
                  <a:pt x="40977" y="12816"/>
                </a:lnTo>
                <a:cubicBezTo>
                  <a:pt x="39697" y="10062"/>
                  <a:pt x="35347" y="3936"/>
                  <a:pt x="32864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63112286" name="Title 1"/>
          <p:cNvSpPr>
            <a:spLocks noGrp="1"/>
          </p:cNvSpPr>
          <p:nvPr>
            <p:ph type="title"/>
          </p:nvPr>
        </p:nvSpPr>
        <p:spPr bwMode="auto">
          <a:xfrm>
            <a:off x="609599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31324706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600201"/>
            <a:ext cx="10972800" cy="4525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42259827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09599" y="6356351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12957990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165599" y="6356351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3853174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737599" y="6356351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lvl1pPr algn="r" defTabSz="914400" rtl="0">
        <a:spcBef>
          <a:spcPts val="0"/>
        </a:spcBef>
        <a:buNone/>
        <a:defRPr sz="4400">
          <a:solidFill>
            <a:schemeClr val="tx1">
              <a:lumMod val="65000"/>
              <a:lumOff val="3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package" Target="../embeddings/Microsoft_Excel_Worksheet1.xlsx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379854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4595833" y="1637631"/>
            <a:ext cx="6720746" cy="118644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/>
              <a:t>Clyx – </a:t>
            </a:r>
            <a:r>
              <a:rPr lang="ru-RU"/>
              <a:t>ОС Нового Поколения</a:t>
            </a:r>
            <a:endParaRPr lang="en-US"/>
          </a:p>
        </p:txBody>
      </p:sp>
      <p:sp>
        <p:nvSpPr>
          <p:cNvPr id="1170986502" name="Subtitle 2"/>
          <p:cNvSpPr>
            <a:spLocks noGrp="1"/>
          </p:cNvSpPr>
          <p:nvPr>
            <p:ph type="subTitle" idx="1"/>
          </p:nvPr>
        </p:nvSpPr>
        <p:spPr bwMode="auto">
          <a:xfrm>
            <a:off x="4655839" y="3068959"/>
            <a:ext cx="6720746" cy="720079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172819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marL="570252" indent="-570252">
              <a:buAutoNum type="romanUcPeriod"/>
              <a:defRPr/>
            </a:pPr>
            <a:r>
              <a:rPr lang="ru-RU"/>
              <a:t>Существующие ОС на базе </a:t>
            </a:r>
            <a:r>
              <a:rPr lang="en-US"/>
              <a:t>linux</a:t>
            </a:r>
            <a:endParaRPr/>
          </a:p>
        </p:txBody>
      </p:sp>
      <p:sp>
        <p:nvSpPr>
          <p:cNvPr id="155321230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В настоящее время существует большое количество дистрибутивов Linux, </a:t>
            </a:r>
            <a:r>
              <a:rPr lang="ru-RU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таких как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 Debian, Ubuntu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 (</a:t>
            </a:r>
            <a:r>
              <a:rPr lang="ru-RU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на базе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debian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)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, ArchLinux, NixOS, Fedora</a:t>
            </a:r>
            <a:r>
              <a:rPr lang="ru-RU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 и др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; </a:t>
            </a:r>
            <a:r>
              <a:rPr lang="ru-RU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из российских –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Alt linux, Astra linux (</a:t>
            </a:r>
            <a:r>
              <a:rPr lang="ru-RU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на базе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debian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)</a:t>
            </a:r>
            <a:r>
              <a:rPr lang="ru-RU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. Они отличаются внешним видом, способом установки программ, стабильностью, требованиями к оборудованию и назначением. </a:t>
            </a:r>
            <a:endParaRPr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825350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II. </a:t>
            </a:r>
            <a:r>
              <a:rPr lang="ru-RU"/>
              <a:t>Проблемы существующих ОС</a:t>
            </a:r>
            <a:endParaRPr/>
          </a:p>
        </p:txBody>
      </p:sp>
      <p:sp>
        <p:nvSpPr>
          <p:cNvPr id="1871885516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9" y="1600201"/>
            <a:ext cx="4572373" cy="452596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>
              <a:defRPr/>
            </a:pPr>
            <a:r>
              <a:rPr lang="ru-RU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Большинство решений </a:t>
            </a:r>
            <a:r>
              <a:rPr lang="ru-RU" sz="3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либо сложны</a:t>
            </a:r>
            <a:r>
              <a:rPr lang="ru-RU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 для массового пользователя, </a:t>
            </a:r>
            <a:r>
              <a:rPr lang="ru-RU" sz="3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либо ориентированы на узкие сценарии</a:t>
            </a:r>
            <a:r>
              <a:rPr lang="ru-RU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 – разработку, серверы, контейнеры.</a:t>
            </a:r>
            <a:endParaRPr/>
          </a:p>
        </p:txBody>
      </p:sp>
      <p:graphicFrame>
        <p:nvGraphicFramePr>
          <p:cNvPr id="1495711784" name=""/>
          <p:cNvGraphicFramePr>
            <a:graphicFrameLocks xmlns:a="http://schemas.openxmlformats.org/drawingml/2006/main" noChangeAspect="1"/>
          </p:cNvGraphicFramePr>
          <p:nvPr/>
        </p:nvGraphicFramePr>
        <p:xfrm flipH="0" flipV="0">
          <a:off x="5181973" y="1417638"/>
          <a:ext cx="6400425" cy="2653835"/>
        </p:xfrm>
        <a:graphic>
          <a:graphicData uri="http://schemas.openxmlformats.org/presentationml/2006/ole">
            <p:oleObj name="oleObj" r:id="rId4" imgW="4295775" imgH="1781175" progId="Excel.Sheet.12">
              <p:embed/>
              <p:pic>
                <p:nvPicPr>
                  <p:cNvPr id="1495711784" name=""/>
                  <p:cNvPicPr/>
                  <p:nvPr/>
                </p:nvPicPr>
                <p:blipFill rotWithShape="1">
                  <a:blip r:embed="rId3"/>
                  <a:stretch/>
                </p:blipFill>
                <p:spPr bwMode="auto">
                  <a:xfrm flipH="0" flipV="0">
                    <a:off x="5181973" y="1417638"/>
                    <a:ext cx="6400425" cy="2653835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0486289" name="Title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5000" lnSpcReduction="1000"/>
          </a:bodyPr>
          <a:lstStyle/>
          <a:p>
            <a:pPr>
              <a:defRPr/>
            </a:pPr>
            <a:r>
              <a:rPr sz="3800"/>
              <a:t>III. </a:t>
            </a:r>
            <a:r>
              <a:rPr lang="ru-RU" sz="3800"/>
              <a:t>Сравнение</a:t>
            </a:r>
            <a:r>
              <a:rPr lang="en-US" sz="3800"/>
              <a:t> </a:t>
            </a:r>
            <a:r>
              <a:rPr lang="ru-RU" sz="3800"/>
              <a:t>декларативных ОС </a:t>
            </a:r>
            <a:r>
              <a:rPr lang="ru-RU" sz="3800"/>
              <a:t>с другими дистрибутивами (на примере </a:t>
            </a:r>
            <a:r>
              <a:rPr lang="en-US" sz="3800"/>
              <a:t>NixOS</a:t>
            </a:r>
            <a:r>
              <a:rPr lang="ru-RU" sz="3800"/>
              <a:t>)</a:t>
            </a:r>
            <a:endParaRPr sz="3800"/>
          </a:p>
        </p:txBody>
      </p:sp>
      <p:sp>
        <p:nvSpPr>
          <p:cNvPr id="32730222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2400"/>
              <a:t>В отличие от классических дистрибутивов, ОС подобные </a:t>
            </a:r>
            <a:r>
              <a:rPr lang="en-US" sz="2400"/>
              <a:t>NixOS </a:t>
            </a:r>
            <a:r>
              <a:rPr lang="ru-RU" sz="2400"/>
              <a:t>управляются конфигурацией, к которой система приводится автоматически, а не командами вручную</a:t>
            </a:r>
            <a:r>
              <a:rPr lang="ru-RU" sz="2400"/>
              <a:t>.</a:t>
            </a:r>
            <a:endParaRPr sz="2400"/>
          </a:p>
          <a:p>
            <a:pPr>
              <a:defRPr/>
            </a:pPr>
            <a:r>
              <a:rPr lang="ru-RU" sz="2400"/>
              <a:t>Плюсы </a:t>
            </a:r>
            <a:r>
              <a:rPr lang="en-US" sz="2400"/>
              <a:t>NixOS:</a:t>
            </a:r>
            <a:endParaRPr sz="2400"/>
          </a:p>
          <a:p>
            <a:pPr lvl="1">
              <a:defRPr/>
            </a:pPr>
            <a:r>
              <a:rPr lang="ru-RU" sz="2400"/>
              <a:t>Пакеты изолированны друг от друга, конфликты архитектурно невозможны.</a:t>
            </a:r>
            <a:endParaRPr sz="2400"/>
          </a:p>
          <a:p>
            <a:pPr lvl="1">
              <a:defRPr/>
            </a:pPr>
            <a:r>
              <a:rPr lang="ru-RU" sz="2400"/>
              <a:t>Возможность отката к предыдущей версии конфигурации.</a:t>
            </a:r>
            <a:endParaRPr lang="ru-RU" sz="2400"/>
          </a:p>
          <a:p>
            <a:pPr lvl="1">
              <a:defRPr/>
            </a:pPr>
            <a:r>
              <a:rPr lang="ru-RU" sz="2400"/>
              <a:t>Из одной конфигурации можно развернуть множество одинаковых машин, например, для офиса или кластеров серверов</a:t>
            </a:r>
            <a:endParaRPr lang="ru-RU" sz="2400"/>
          </a:p>
          <a:p>
            <a:pPr lvl="0">
              <a:defRPr/>
            </a:pPr>
            <a:r>
              <a:rPr lang="ru-RU" sz="2800"/>
              <a:t>Минусы </a:t>
            </a:r>
            <a:r>
              <a:rPr lang="en-US" sz="2800"/>
              <a:t>NixOS:</a:t>
            </a:r>
            <a:endParaRPr lang="en-US" sz="2800"/>
          </a:p>
          <a:p>
            <a:pPr lvl="1">
              <a:defRPr/>
            </a:pPr>
            <a:r>
              <a:rPr lang="ru-RU" sz="2400"/>
              <a:t>Высокий порог входа, необходимость учить язык программирования </a:t>
            </a:r>
            <a:r>
              <a:rPr lang="en-US" sz="2400"/>
              <a:t>nix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202029" name="Title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/>
              <a:t>IV. </a:t>
            </a:r>
            <a:r>
              <a:rPr lang="ru-RU"/>
              <a:t>Отличие идей </a:t>
            </a:r>
            <a:r>
              <a:rPr lang="en-US"/>
              <a:t>Clyx </a:t>
            </a:r>
            <a:r>
              <a:rPr lang="ru-RU"/>
              <a:t>от </a:t>
            </a:r>
            <a:r>
              <a:rPr lang="en-US"/>
              <a:t>NixOS</a:t>
            </a:r>
            <a:r>
              <a:rPr lang="ru-RU"/>
              <a:t>, решение проблем</a:t>
            </a:r>
            <a:endParaRPr/>
          </a:p>
        </p:txBody>
      </p:sp>
      <p:sp>
        <p:nvSpPr>
          <p:cNvPr id="98205587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297467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V.I. </a:t>
            </a:r>
            <a:r>
              <a:rPr lang="ru-RU"/>
              <a:t>Итог – почему </a:t>
            </a:r>
            <a:r>
              <a:rPr lang="en-US"/>
              <a:t>Clyx</a:t>
            </a:r>
            <a:endParaRPr/>
          </a:p>
        </p:txBody>
      </p:sp>
      <p:sp>
        <p:nvSpPr>
          <p:cNvPr id="127677084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155082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V.II. </a:t>
            </a:r>
            <a:r>
              <a:rPr lang="ru-RU"/>
              <a:t>Итог – минусы </a:t>
            </a:r>
            <a:r>
              <a:rPr lang="en-US"/>
              <a:t>Clyx</a:t>
            </a:r>
            <a:endParaRPr/>
          </a:p>
        </p:txBody>
      </p:sp>
      <p:sp>
        <p:nvSpPr>
          <p:cNvPr id="151912302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28936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V.III. </a:t>
            </a:r>
            <a:r>
              <a:rPr lang="ru-RU"/>
              <a:t>Итог – сферы применения </a:t>
            </a:r>
            <a:r>
              <a:rPr lang="en-US"/>
              <a:t>Clyx</a:t>
            </a:r>
            <a:endParaRPr/>
          </a:p>
        </p:txBody>
      </p:sp>
      <p:sp>
        <p:nvSpPr>
          <p:cNvPr id="39058528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urtl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lassic 2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ONLYOFFICE/9.1.0.173</Application>
  <PresentationFormat>On-screen Show (4:3)</PresentationFormat>
  <Paragraphs>0</Paragraphs>
  <Slides>8</Slides>
  <Notes>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</cp:revision>
  <dcterms:modified xsi:type="dcterms:W3CDTF">2026-10-06T14:02:43Z</dcterms:modified>
</cp:coreProperties>
</file>