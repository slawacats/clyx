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859826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025486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7823847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0419636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236324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9540426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06418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7471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0012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5055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1360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920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4947E7-31F4-FC21-E445-8AD8B8180D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4542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52940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260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E4D-16C6-0674-AA1D-BD1F9A3B94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A6BF44-F722-C903-71DE-C4E232C901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5C3871-37B8-A084-1EB9-71D316FA2B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E332DF-2599-28D2-AA37-6680C3DB771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1920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17189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4219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555457-6B51-A976-6F8F-14631A76EC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116972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02677124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93657807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97990582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20600234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72651268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2188258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933084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7017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317761523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790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4404850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241220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970394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42892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498821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326668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8849868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9680915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5481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89065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0349932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3856043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365403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0733088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408055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62244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0116227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684900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8933601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394566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0402319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527414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71174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43328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5526799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5830183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77069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22077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4371884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99296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068994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42182367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9436247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2166471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3513132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08838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601599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5747724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0657722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5823840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41860949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7572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5980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5499103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7976815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9268436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39263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618836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1343750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0504172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640213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48038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9735584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42229180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242283541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40567704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215207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6919736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8960372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7502764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package" Target="../embeddings/Microsoft_Excel_Worksheet1.xlsx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259464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 нового поколения</a:t>
            </a:r>
            <a:endParaRPr lang="en-US"/>
          </a:p>
        </p:txBody>
      </p:sp>
      <p:sp>
        <p:nvSpPr>
          <p:cNvPr id="114622566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71004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Основное устройство системы</a:t>
            </a:r>
            <a:endParaRPr/>
          </a:p>
        </p:txBody>
      </p:sp>
      <p:sp>
        <p:nvSpPr>
          <p:cNvPr id="130652932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Ключевая особенность идеи – декларативный принцип. Конфигом будет определяться вся система (система инициализации, пакеты, пользователи, ...)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. Пакеты будут расположены в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read-only 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директории, изолированно друг от друга, хранение по хешу (благодаря этому можно иметь сразу несколько версий программ и конфликтующее ПО)</a:t>
            </a:r>
            <a:endParaRPr sz="32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9807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Отличия от других дистрибутивов</a:t>
            </a:r>
            <a:endParaRPr/>
          </a:p>
        </p:txBody>
      </p:sp>
      <p:sp>
        <p:nvSpPr>
          <p:cNvPr id="303634806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400"/>
              <a:t>В отличие от классических дистрибутивов (</a:t>
            </a:r>
            <a:r>
              <a:rPr lang="en-US" sz="2400"/>
              <a:t>debian, ubuntu, arch</a:t>
            </a:r>
            <a:r>
              <a:rPr lang="ru-RU" sz="2400"/>
              <a:t>)</a:t>
            </a:r>
            <a:r>
              <a:rPr lang="en-US" sz="2400"/>
              <a:t> </a:t>
            </a:r>
            <a:r>
              <a:rPr lang="ru-RU" sz="2400"/>
              <a:t>в такой системе установка пакетов производится не императивными комадами, а декларативным конфигом (список программ). Также, изоляция пакетов приводит к детерменированности ОС.</a:t>
            </a:r>
            <a:endParaRPr sz="2400"/>
          </a:p>
          <a:p>
            <a:pPr>
              <a:defRPr/>
            </a:pPr>
            <a:endParaRPr sz="2400"/>
          </a:p>
          <a:p>
            <a:pPr>
              <a:defRPr/>
            </a:pPr>
            <a:r>
              <a:rPr lang="ru-RU" sz="2400"/>
              <a:t>В </a:t>
            </a:r>
            <a:r>
              <a:rPr lang="en-US" sz="2400"/>
              <a:t>NixOS </a:t>
            </a:r>
            <a:r>
              <a:rPr lang="ru-RU" sz="2400"/>
              <a:t>реализована функция откатов – на этапе загрузки вы можете выбрать предыдущую деривацию системы (сохраняется построенную по конфигу систему до очистки, как в </a:t>
            </a:r>
            <a:r>
              <a:rPr lang="en-US" sz="2400"/>
              <a:t>git</a:t>
            </a:r>
            <a:r>
              <a:rPr lang="ru-RU" sz="2400"/>
              <a:t>), если последняя деривация содержит ошибки, не функционирует или не соответствует требованиям. Такой же функционал легко реализовать и в моем концепте.</a:t>
            </a:r>
            <a:endParaRPr sz="2400"/>
          </a:p>
          <a:p>
            <a:pPr>
              <a:defRPr/>
            </a:pP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0386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Изоляция пакетов</a:t>
            </a:r>
            <a:endParaRPr/>
          </a:p>
        </p:txBody>
      </p:sp>
      <p:sp>
        <p:nvSpPr>
          <p:cNvPr id="1798522328" name=""/>
          <p:cNvSpPr/>
          <p:nvPr/>
        </p:nvSpPr>
        <p:spPr bwMode="auto">
          <a:xfrm rot="0" flipH="0" flipV="0">
            <a:off x="770394" y="1921710"/>
            <a:ext cx="1702580" cy="7598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600"/>
              <a:t>Программа 1</a:t>
            </a:r>
            <a:endParaRPr sz="1600"/>
          </a:p>
        </p:txBody>
      </p:sp>
      <p:sp>
        <p:nvSpPr>
          <p:cNvPr id="1429978451" name=""/>
          <p:cNvSpPr/>
          <p:nvPr/>
        </p:nvSpPr>
        <p:spPr bwMode="auto">
          <a:xfrm rot="0" flipH="0" flipV="0">
            <a:off x="3621127" y="3285603"/>
            <a:ext cx="1702580" cy="7598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600"/>
              <a:t>Программа 2</a:t>
            </a:r>
            <a:endParaRPr sz="1600"/>
          </a:p>
        </p:txBody>
      </p:sp>
      <p:sp>
        <p:nvSpPr>
          <p:cNvPr id="209015936" name=""/>
          <p:cNvSpPr/>
          <p:nvPr/>
        </p:nvSpPr>
        <p:spPr bwMode="auto">
          <a:xfrm rot="0" flipH="0" flipV="0">
            <a:off x="720318" y="5031873"/>
            <a:ext cx="1802732" cy="482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Зависимость 1 </a:t>
            </a:r>
            <a:r>
              <a:rPr lang="en-US" sz="1200"/>
              <a:t>v1.0</a:t>
            </a:r>
            <a:endParaRPr sz="1200"/>
          </a:p>
        </p:txBody>
      </p:sp>
      <p:sp>
        <p:nvSpPr>
          <p:cNvPr id="1028120388" name=""/>
          <p:cNvSpPr/>
          <p:nvPr/>
        </p:nvSpPr>
        <p:spPr bwMode="auto">
          <a:xfrm rot="0" flipH="0" flipV="0">
            <a:off x="2719761" y="5031873"/>
            <a:ext cx="1802732" cy="482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Общая Зависимость</a:t>
            </a:r>
            <a:endParaRPr sz="1200"/>
          </a:p>
        </p:txBody>
      </p:sp>
      <p:sp>
        <p:nvSpPr>
          <p:cNvPr id="816983567" name=""/>
          <p:cNvSpPr/>
          <p:nvPr/>
        </p:nvSpPr>
        <p:spPr bwMode="auto">
          <a:xfrm rot="0" flipH="0" flipV="0">
            <a:off x="5752191" y="5035899"/>
            <a:ext cx="1802732" cy="482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Зависимость 1 </a:t>
            </a:r>
            <a:r>
              <a:rPr lang="en-US" sz="1200"/>
              <a:t>v</a:t>
            </a:r>
            <a:r>
              <a:rPr lang="ru-RU" sz="1200"/>
              <a:t>2</a:t>
            </a:r>
            <a:r>
              <a:rPr lang="en-US" sz="1200"/>
              <a:t>.0</a:t>
            </a:r>
            <a:endParaRPr sz="1200"/>
          </a:p>
        </p:txBody>
      </p:sp>
      <p:cxnSp>
        <p:nvCxnSpPr>
          <p:cNvPr id="1293302894" name=""/>
          <p:cNvCxnSpPr>
            <a:stCxn id="1798522328" idx="2"/>
            <a:endCxn id="209015936" idx="0"/>
          </p:cNvCxnSpPr>
          <p:nvPr/>
        </p:nvCxnSpPr>
        <p:spPr bwMode="auto">
          <a:xfrm rot="5399978" flipH="0" flipV="0">
            <a:off x="446523" y="3856711"/>
            <a:ext cx="2350322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037048" name=""/>
          <p:cNvCxnSpPr>
            <a:stCxn id="1798522328" idx="2"/>
            <a:endCxn id="1028120388" idx="0"/>
          </p:cNvCxnSpPr>
          <p:nvPr/>
        </p:nvCxnSpPr>
        <p:spPr bwMode="auto">
          <a:xfrm rot="5399978" flipH="0" flipV="1">
            <a:off x="1446244" y="2856990"/>
            <a:ext cx="2350322" cy="1999442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879370" name=""/>
          <p:cNvCxnSpPr>
            <a:stCxn id="1429978451" idx="2"/>
            <a:endCxn id="1028120388" idx="0"/>
          </p:cNvCxnSpPr>
          <p:nvPr/>
        </p:nvCxnSpPr>
        <p:spPr bwMode="auto">
          <a:xfrm rot="5399978" flipH="0" flipV="0">
            <a:off x="3553557" y="4113012"/>
            <a:ext cx="986430" cy="85129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472845" name=""/>
          <p:cNvCxnSpPr>
            <a:stCxn id="1429978451" idx="2"/>
            <a:endCxn id="816983567" idx="0"/>
          </p:cNvCxnSpPr>
          <p:nvPr/>
        </p:nvCxnSpPr>
        <p:spPr bwMode="auto">
          <a:xfrm rot="5399978" flipH="0" flipV="1">
            <a:off x="5067759" y="3450101"/>
            <a:ext cx="990456" cy="2181139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6794832" name=""/>
          <p:cNvSpPr txBox="1"/>
          <p:nvPr/>
        </p:nvSpPr>
        <p:spPr bwMode="auto">
          <a:xfrm rot="0" flipH="0" flipV="0">
            <a:off x="8607631" y="2005263"/>
            <a:ext cx="3068944" cy="2560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/>
              <a:t>В область видимости программ будут входить только те зависимости, которые им нужны</a:t>
            </a:r>
            <a:br>
              <a:rPr lang="ru-RU"/>
            </a:br>
            <a:r>
              <a:rPr lang="ru-RU"/>
              <a:t>Зависимости разных версий имеют разный хеш, значит являются полностью разными для системы</a:t>
            </a:r>
            <a:endParaRPr/>
          </a:p>
        </p:txBody>
      </p:sp>
      <p:sp>
        <p:nvSpPr>
          <p:cNvPr id="1028047312" name=""/>
          <p:cNvSpPr/>
          <p:nvPr/>
        </p:nvSpPr>
        <p:spPr bwMode="auto">
          <a:xfrm rot="0" flipH="0" flipV="0">
            <a:off x="5802267" y="1700107"/>
            <a:ext cx="1702579" cy="7598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600"/>
              <a:t>Программа </a:t>
            </a:r>
            <a:r>
              <a:rPr lang="en-US" sz="1600"/>
              <a:t>3</a:t>
            </a:r>
            <a:endParaRPr sz="1600"/>
          </a:p>
        </p:txBody>
      </p:sp>
      <p:cxnSp>
        <p:nvCxnSpPr>
          <p:cNvPr id="2133509873" name=""/>
          <p:cNvCxnSpPr>
            <a:stCxn id="1028047312" idx="2"/>
            <a:endCxn id="1429978451" idx="3"/>
          </p:cNvCxnSpPr>
          <p:nvPr/>
        </p:nvCxnSpPr>
        <p:spPr bwMode="auto">
          <a:xfrm rot="5399978" flipH="0" flipV="0">
            <a:off x="5385845" y="2397810"/>
            <a:ext cx="1205575" cy="1329849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8139402" name=""/>
          <p:cNvSpPr/>
          <p:nvPr/>
        </p:nvSpPr>
        <p:spPr bwMode="auto">
          <a:xfrm rot="0" flipH="0" flipV="0">
            <a:off x="5752191" y="3856711"/>
            <a:ext cx="1802731" cy="4825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Зависимость </a:t>
            </a:r>
            <a:r>
              <a:rPr sz="1200"/>
              <a:t>2</a:t>
            </a:r>
            <a:endParaRPr sz="1200"/>
          </a:p>
        </p:txBody>
      </p:sp>
      <p:cxnSp>
        <p:nvCxnSpPr>
          <p:cNvPr id="2086167579" name=""/>
          <p:cNvCxnSpPr>
            <a:stCxn id="1028047312" idx="2"/>
            <a:endCxn id="1418139402" idx="0"/>
          </p:cNvCxnSpPr>
          <p:nvPr/>
        </p:nvCxnSpPr>
        <p:spPr bwMode="auto">
          <a:xfrm rot="5399978" flipH="0" flipV="0">
            <a:off x="5955175" y="3158329"/>
            <a:ext cx="1396764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1299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Плюсы концепта</a:t>
            </a:r>
            <a:endParaRPr/>
          </a:p>
        </p:txBody>
      </p:sp>
      <p:sp>
        <p:nvSpPr>
          <p:cNvPr id="2029995428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Изоляция пакетов </a:t>
            </a:r>
            <a:r>
              <a:rPr lang="ru-RU" sz="2400" b="0"/>
              <a:t>– система сможет иметь разные версии одного пакета, </a:t>
            </a:r>
            <a:r>
              <a:rPr lang="ru-RU" sz="2400" b="0"/>
              <a:t>ошибки зависимостей и конфликтов исключены</a:t>
            </a:r>
            <a:endParaRPr sz="2400" b="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Детерменированность </a:t>
            </a:r>
            <a:r>
              <a:rPr lang="ru-RU" sz="2400" b="0"/>
              <a:t>– одна и та же конфигурация </a:t>
            </a:r>
            <a:r>
              <a:rPr lang="ru-RU" sz="2400"/>
              <a:t>приведет к одному и тому же результату</a:t>
            </a:r>
            <a:r>
              <a:rPr lang="ru-RU" sz="2400"/>
              <a:t>. Драйвера и другие опции, зависящие от платформы, должны быть вынесены в отдельную конфигурацию устройства</a:t>
            </a:r>
            <a:endParaRPr sz="2400" b="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Реплицируемость </a:t>
            </a:r>
            <a:r>
              <a:rPr lang="ru-RU" sz="2400"/>
              <a:t>– имея конфигурацию системы, можно сделать её точную копию (за исключением пользовательских файлов)</a:t>
            </a:r>
            <a:endParaRPr sz="240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Упрощенное администрирование</a:t>
            </a:r>
            <a:r>
              <a:rPr lang="ru-RU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– версионирование конфигурационного файла можно вести в </a:t>
            </a: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git, </a:t>
            </a:r>
            <a:r>
              <a:rPr lang="ru-RU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это упрощает аудит действий системных администраторов и дает возможность оперативно отменить изменения при необходимости</a:t>
            </a:r>
            <a:endParaRPr sz="240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Плавное освоение </a:t>
            </a:r>
            <a:r>
              <a:rPr lang="ru-RU" sz="2400" b="0"/>
              <a:t>– конфигурационные файлы созданы для чтения и записи из кода, детерменированность системы позволяет сделать пользовательский интерфейс для изменения конфигурации, который не сможет привести к ошибкам в системе. В </a:t>
            </a:r>
            <a:r>
              <a:rPr lang="en-US" sz="2400" b="0"/>
              <a:t>NixOS </a:t>
            </a:r>
            <a:r>
              <a:rPr lang="ru-RU" sz="2400" b="0"/>
              <a:t>такой подход усложнен, ведь ее конфигурация выполнена в функциональном языке программирования</a:t>
            </a:r>
            <a:endParaRPr lang="ru-RU" sz="24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6411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Минусы концепта</a:t>
            </a:r>
            <a:endParaRPr/>
          </a:p>
        </p:txBody>
      </p:sp>
      <p:sp>
        <p:nvSpPr>
          <p:cNvPr id="87402178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438080" indent="-438080">
              <a:buFont typeface="Arial"/>
              <a:buAutoNum type="arabicPeriod"/>
              <a:defRPr/>
            </a:pPr>
            <a:r>
              <a:rPr lang="ru-RU" sz="2400" b="1"/>
              <a:t>Больший вес</a:t>
            </a:r>
            <a:r>
              <a:rPr lang="ru-RU" sz="2400" b="0"/>
              <a:t> – конфигурация, деривации системы будут занимать место, пакетный менеджер хранит больше информации</a:t>
            </a:r>
            <a:r>
              <a:rPr lang="en-US" sz="2400" b="0"/>
              <a:t>; </a:t>
            </a:r>
            <a:r>
              <a:rPr lang="ru-RU" sz="2400" b="0"/>
              <a:t>однако, на современном оборудовании затраты памяти не будут значительны</a:t>
            </a:r>
            <a:endParaRPr sz="2400" b="0"/>
          </a:p>
          <a:p>
            <a:pPr marL="438080" indent="-438080">
              <a:buFont typeface="Arial"/>
              <a:buAutoNum type="arabicPeriod"/>
              <a:defRPr/>
            </a:pPr>
            <a:r>
              <a:rPr lang="ru-RU" sz="2400" b="1"/>
              <a:t>Излишняя изоляция</a:t>
            </a:r>
            <a:r>
              <a:rPr lang="ru-RU" sz="2400" b="0"/>
              <a:t> </a:t>
            </a:r>
            <a:r>
              <a:rPr lang="ru-RU" sz="2400" b="0"/>
              <a:t>– некоторые программы могут иметь неявные зависимости. Решение</a:t>
            </a:r>
            <a:r>
              <a:rPr lang="en-US" sz="2400" b="0"/>
              <a:t>: </a:t>
            </a:r>
            <a:r>
              <a:rPr lang="ru-RU" sz="2400" b="0"/>
              <a:t>конфигурации </a:t>
            </a:r>
            <a:r>
              <a:rPr lang="en-US" sz="2400" b="0"/>
              <a:t>shell, </a:t>
            </a:r>
            <a:r>
              <a:rPr lang="ru-RU" sz="2400" b="0"/>
              <a:t>в которых будут описаны необходимые программы (как в </a:t>
            </a:r>
            <a:r>
              <a:rPr lang="en-US" sz="2400" b="0"/>
              <a:t>NixOS</a:t>
            </a:r>
            <a:r>
              <a:rPr lang="ru-RU" sz="2400" b="0"/>
              <a:t>)</a:t>
            </a:r>
            <a:endParaRPr sz="24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358329443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609599" y="647227"/>
          <a:ext cx="10972800" cy="5563544"/>
        </p:xfrm>
        <a:graphic>
          <a:graphicData uri="http://schemas.openxmlformats.org/presentationml/2006/ole">
            <p:oleObj name="oleObj" r:id="rId4" imgW="10972800" imgH="5562600" progId="Excel.Sheet.12">
              <p:embed/>
              <p:pic>
                <p:nvPicPr>
                  <p:cNvPr id="358329443" name=""/>
                  <p:cNvPicPr/>
                  <p:nvPr/>
                </p:nvPicPr>
                <p:blipFill rotWithShape="1">
                  <a:blip r:embed="rId3"/>
                  <a:stretch/>
                </p:blipFill>
                <p:spPr bwMode="auto">
                  <a:xfrm flipH="0" flipV="0">
                    <a:off x="609599" y="647227"/>
                    <a:ext cx="10972800" cy="556354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66964927" name=""/>
          <p:cNvSpPr txBox="1"/>
          <p:nvPr/>
        </p:nvSpPr>
        <p:spPr bwMode="auto">
          <a:xfrm rot="0" flipH="0" flipV="0">
            <a:off x="609599" y="217713"/>
            <a:ext cx="927990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>
                <a:solidFill>
                  <a:schemeClr val="tx1">
                    <a:lumMod val="65000"/>
                    <a:lumOff val="35000"/>
                  </a:schemeClr>
                </a:solidFill>
              </a:rPr>
              <a:t>Таблица сравнения популярных дистрибутивов с основными идеями новой ОС</a:t>
            </a:r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2026-09-29T11:29:10Z</dcterms:modified>
</cp:coreProperties>
</file>