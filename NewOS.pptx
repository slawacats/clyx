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847375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796373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6903620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2608140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58924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329001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9876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14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3995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431F9E-29DF-416F-36C9-C3E33D044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9FD17E-15BB-A92C-C4C2-BE878BDB91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346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814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0671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4947E7-31F4-FC21-E445-8AD8B8180D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00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2346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934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E4D-16C6-0674-AA1D-BD1F9A3B94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A6BF44-F722-C903-71DE-C4E232C901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5C3871-37B8-A084-1EB9-71D316FA2B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E332DF-2599-28D2-AA37-6680C3DB77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708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591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40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555457-6B51-A976-6F8F-14631A76EC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399707" name="Shape 1059"/>
          <p:cNvSpPr>
            <a:spLocks noChangeArrowheads="1" noGrp="1"/>
          </p:cNvSpPr>
          <p:nvPr userDrawn="1"/>
        </p:nvSpPr>
        <p:spPr bwMode="auto">
          <a:xfrm>
            <a:off x="2396066" y="2291401"/>
            <a:ext cx="5452533" cy="4165115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412152781" name="Shape 1060"/>
          <p:cNvSpPr>
            <a:spLocks noChangeArrowheads="1" noGrp="1"/>
          </p:cNvSpPr>
          <p:nvPr userDrawn="1"/>
        </p:nvSpPr>
        <p:spPr bwMode="auto">
          <a:xfrm>
            <a:off x="1309514" y="1839834"/>
            <a:ext cx="4011787" cy="1314324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88752901" name="Shape 1061"/>
          <p:cNvSpPr>
            <a:spLocks noChangeArrowheads="1" noGrp="1"/>
          </p:cNvSpPr>
          <p:nvPr userDrawn="1"/>
        </p:nvSpPr>
        <p:spPr bwMode="auto">
          <a:xfrm>
            <a:off x="6567030" y="4629133"/>
            <a:ext cx="5395523" cy="2231707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66481663" name="Shape 1062"/>
          <p:cNvSpPr>
            <a:spLocks noChangeArrowheads="1" noGrp="1"/>
          </p:cNvSpPr>
          <p:nvPr userDrawn="1"/>
        </p:nvSpPr>
        <p:spPr bwMode="auto">
          <a:xfrm>
            <a:off x="389187" y="6100774"/>
            <a:ext cx="4968521" cy="759999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2096455674" name="Shape 1063"/>
          <p:cNvSpPr>
            <a:spLocks noChangeArrowheads="1" noGrp="1"/>
          </p:cNvSpPr>
          <p:nvPr userDrawn="1"/>
        </p:nvSpPr>
        <p:spPr bwMode="auto">
          <a:xfrm>
            <a:off x="0" y="3254701"/>
            <a:ext cx="2099733" cy="3343682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30739788" name="Subtitle 2"/>
          <p:cNvSpPr>
            <a:spLocks noGrp="1"/>
          </p:cNvSpPr>
          <p:nvPr>
            <p:ph type="subTitle" idx="1"/>
          </p:nvPr>
        </p:nvSpPr>
        <p:spPr bwMode="auto">
          <a:xfrm>
            <a:off x="4655839" y="2708919"/>
            <a:ext cx="6720745" cy="72007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3170660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849083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0456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  <p:sp>
        <p:nvSpPr>
          <p:cNvPr id="204712526" name="Title 6"/>
          <p:cNvSpPr>
            <a:spLocks noGrp="1"/>
          </p:cNvSpPr>
          <p:nvPr>
            <p:ph type="title"/>
          </p:nvPr>
        </p:nvSpPr>
        <p:spPr bwMode="auto">
          <a:xfrm>
            <a:off x="4595833" y="1808820"/>
            <a:ext cx="6720745" cy="720079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0416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0386006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043829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676296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88876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16435" name="Title 1"/>
          <p:cNvSpPr>
            <a:spLocks noGrp="1"/>
          </p:cNvSpPr>
          <p:nvPr>
            <p:ph type="title"/>
          </p:nvPr>
        </p:nvSpPr>
        <p:spPr bwMode="auto">
          <a:xfrm>
            <a:off x="963083" y="4406901"/>
            <a:ext cx="10363199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838032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3" y="2906713"/>
            <a:ext cx="10363199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636112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443804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5300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5007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9141845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852568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599" y="1600201"/>
            <a:ext cx="5384799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192553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8488842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502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9079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896347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785801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599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9334749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8204917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70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4366943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9218587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335214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443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1905447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73037599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82387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47235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51933869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769323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540571" name="Title 1"/>
          <p:cNvSpPr>
            <a:spLocks noGrp="1"/>
          </p:cNvSpPr>
          <p:nvPr>
            <p:ph type="title"/>
          </p:nvPr>
        </p:nvSpPr>
        <p:spPr bwMode="auto">
          <a:xfrm>
            <a:off x="609603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25376042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1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9569262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3" y="1435102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6505499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63305462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90044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024490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0026321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32182913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386416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8580422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015432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5634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4580971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594784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2210597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10584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576276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199" y="274639"/>
            <a:ext cx="2743200" cy="5851525"/>
          </a:xfrm>
        </p:spPr>
        <p:txBody>
          <a:bodyPr vert="eaVert"/>
          <a:lstStyle>
            <a:lvl1pPr algn="ctr">
              <a:defRPr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2042990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599" y="274639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990736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42844067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4795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468926" name="Shape 1059"/>
          <p:cNvSpPr>
            <a:spLocks noChangeArrowheads="1" noGrp="1"/>
          </p:cNvSpPr>
          <p:nvPr userDrawn="1"/>
        </p:nvSpPr>
        <p:spPr bwMode="auto">
          <a:xfrm>
            <a:off x="4976706" y="2"/>
            <a:ext cx="3058159" cy="89379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1868546632" name="Shape 1060"/>
          <p:cNvSpPr>
            <a:spLocks noChangeArrowheads="1" noGrp="1"/>
          </p:cNvSpPr>
          <p:nvPr userDrawn="1"/>
        </p:nvSpPr>
        <p:spPr bwMode="auto">
          <a:xfrm>
            <a:off x="-24679" y="1"/>
            <a:ext cx="1399539" cy="1797558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44686789" name="Shape 1061"/>
          <p:cNvSpPr>
            <a:spLocks noChangeArrowheads="1" noGrp="1"/>
          </p:cNvSpPr>
          <p:nvPr userDrawn="1"/>
        </p:nvSpPr>
        <p:spPr bwMode="auto">
          <a:xfrm>
            <a:off x="1637456" y="1"/>
            <a:ext cx="3839633" cy="26096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593284115" name="Title 1"/>
          <p:cNvSpPr>
            <a:spLocks noGrp="1"/>
          </p:cNvSpPr>
          <p:nvPr>
            <p:ph type="title"/>
          </p:nvPr>
        </p:nvSpPr>
        <p:spPr bwMode="auto">
          <a:xfrm>
            <a:off x="609599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3412951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599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9810622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69D51E0-3758-456B-809F-07B187805C7D}" type="datetimeFigureOut">
              <a:rPr/>
              <a:t>22.10.2013</a:t>
            </a:fld>
            <a:endParaRPr/>
          </a:p>
        </p:txBody>
      </p:sp>
      <p:sp>
        <p:nvSpPr>
          <p:cNvPr id="199695446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599" y="6356351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91391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599" y="6356351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D3B38E7-149F-4D77-9EEF-9309C2CB69A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0">
        <a:spcBef>
          <a:spcPts val="0"/>
        </a:spcBef>
        <a:buNone/>
        <a:defRPr sz="44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599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package" Target="../embeddings/Microsoft_Excel_Worksheet1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76708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 нового поколения</a:t>
            </a:r>
            <a:endParaRPr lang="en-US"/>
          </a:p>
        </p:txBody>
      </p:sp>
      <p:sp>
        <p:nvSpPr>
          <p:cNvPr id="169624803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6720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 что ругают </a:t>
            </a:r>
            <a:r>
              <a:rPr lang="en-US"/>
              <a:t>NixOS</a:t>
            </a:r>
            <a:endParaRPr/>
          </a:p>
        </p:txBody>
      </p:sp>
      <p:sp>
        <p:nvSpPr>
          <p:cNvPr id="99038351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09598" y="1600200"/>
            <a:ext cx="10972800" cy="321243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50000" lnSpcReduction="10000"/>
          </a:bodyPr>
          <a:lstStyle/>
          <a:p>
            <a:pPr>
              <a:defRPr/>
            </a:pPr>
            <a:r>
              <a:rPr lang="ru-RU" b="1"/>
              <a:t>Крутая кривая обучения</a:t>
            </a:r>
            <a:r>
              <a:rPr lang="ru-RU"/>
              <a:t> (</a:t>
            </a:r>
            <a:r>
              <a:rPr lang="en-US"/>
              <a:t>linux, nix, </a:t>
            </a:r>
            <a:r>
              <a:rPr lang="en-US"/>
              <a:t>flake, </a:t>
            </a:r>
            <a:r>
              <a:rPr lang="ru-RU"/>
              <a:t>система модулей, </a:t>
            </a:r>
            <a:r>
              <a:rPr lang="en-US"/>
              <a:t>derivations, overlays</a:t>
            </a:r>
            <a:r>
              <a:rPr lang="ru-RU"/>
              <a:t>)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 b="1"/>
              <a:t>Непонятные ошибки</a:t>
            </a:r>
            <a:r>
              <a:rPr lang="ru-RU"/>
              <a:t> языка </a:t>
            </a:r>
            <a:r>
              <a:rPr lang="en-US"/>
              <a:t>nix</a:t>
            </a:r>
            <a:endParaRPr lang="en-US"/>
          </a:p>
          <a:p>
            <a:pPr marL="0" indent="0">
              <a:buFont typeface="Arial"/>
              <a:buNone/>
              <a:defRPr/>
            </a:pPr>
            <a:endParaRPr lang="en-US"/>
          </a:p>
          <a:p>
            <a:pPr>
              <a:defRPr/>
            </a:pPr>
            <a:r>
              <a:rPr lang="en-US" sz="32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Документация и примеры разрознены</a:t>
            </a:r>
            <a:endParaRPr lang="ru-RU" b="1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Нестандартные версии, флаги при компиляции, проприетарные зависимости, непопулярные программы </a:t>
            </a:r>
            <a:r>
              <a:rPr lang="ru-RU" b="1"/>
              <a:t>требуют код</a:t>
            </a:r>
            <a:r>
              <a:rPr lang="ru-RU"/>
              <a:t> на </a:t>
            </a:r>
            <a:r>
              <a:rPr lang="en-US"/>
              <a:t>nix-</a:t>
            </a:r>
            <a:r>
              <a:rPr lang="ru-RU"/>
              <a:t>е (либо разбираться с </a:t>
            </a:r>
            <a:r>
              <a:rPr lang="en-US"/>
              <a:t>flake</a:t>
            </a:r>
            <a:r>
              <a:rPr lang="ru-RU"/>
              <a:t>)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 b="1"/>
              <a:t>Слишком много способов сделать одно и то же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en-US" b="1"/>
              <a:t>Nix Profile </a:t>
            </a:r>
            <a:r>
              <a:rPr lang="ru-RU" b="1"/>
              <a:t>нарушает декларативность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Нужно постоянно поддерживать конфигурацию, </a:t>
            </a:r>
            <a:r>
              <a:rPr lang="ru-RU" b="1"/>
              <a:t>система становится проектом в </a:t>
            </a:r>
            <a:r>
              <a:rPr lang="en-US" b="1"/>
              <a:t>git</a:t>
            </a:r>
            <a:endParaRPr lang="ru-RU"/>
          </a:p>
        </p:txBody>
      </p:sp>
      <p:pic>
        <p:nvPicPr>
          <p:cNvPr id="16986121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09598" y="4862763"/>
            <a:ext cx="9301157" cy="1909669"/>
          </a:xfrm>
          <a:prstGeom prst="rect">
            <a:avLst/>
          </a:prstGeom>
        </p:spPr>
      </p:pic>
      <p:sp>
        <p:nvSpPr>
          <p:cNvPr id="1184025891" name=""/>
          <p:cNvSpPr txBox="1"/>
          <p:nvPr/>
        </p:nvSpPr>
        <p:spPr bwMode="auto">
          <a:xfrm rot="0" flipH="0" flipV="0">
            <a:off x="10044736" y="4963026"/>
            <a:ext cx="1958070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1200" i="1">
                <a:solidFill>
                  <a:schemeClr val="bg1">
                    <a:lumMod val="50000"/>
                  </a:schemeClr>
                </a:solidFill>
              </a:rPr>
              <a:t>Скриншот ошибки перестройки системы. Путь </a:t>
            </a:r>
            <a:r>
              <a:rPr lang="en-US" sz="1200" i="1">
                <a:solidFill>
                  <a:schemeClr val="bg1">
                    <a:lumMod val="50000"/>
                  </a:schemeClr>
                </a:solidFill>
              </a:rPr>
              <a:t>modules </a:t>
            </a:r>
            <a:r>
              <a:rPr lang="ru-RU" sz="1200" i="1">
                <a:solidFill>
                  <a:schemeClr val="bg1">
                    <a:lumMod val="50000"/>
                  </a:schemeClr>
                </a:solidFill>
              </a:rPr>
              <a:t>на самом деле сущестаует</a:t>
            </a:r>
            <a:endParaRPr sz="1200" i="1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0487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Проблемы </a:t>
            </a:r>
            <a:r>
              <a:rPr lang="en-US"/>
              <a:t>NixOS</a:t>
            </a:r>
            <a:endParaRPr/>
          </a:p>
        </p:txBody>
      </p:sp>
      <p:sp>
        <p:nvSpPr>
          <p:cNvPr id="9345813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400" b="1"/>
              <a:t>В устройстве конфигурации</a:t>
            </a:r>
            <a:r>
              <a:rPr lang="en-US" sz="2400" b="1"/>
              <a:t>:</a:t>
            </a:r>
            <a:endParaRPr sz="2400" b="1"/>
          </a:p>
          <a:p>
            <a:pPr lvl="1">
              <a:defRPr/>
            </a:pPr>
            <a:r>
              <a:rPr lang="ru-RU" sz="2400" b="0"/>
              <a:t>Есть неявные опции (например, </a:t>
            </a:r>
            <a:r>
              <a:rPr lang="en-US" sz="2400" b="0"/>
              <a:t>glibc, coreutils, </a:t>
            </a:r>
            <a:r>
              <a:rPr lang="ru-RU" sz="2400" b="0"/>
              <a:t>система инициализации</a:t>
            </a:r>
            <a:r>
              <a:rPr lang="ru-RU" sz="2400" b="0"/>
              <a:t>)</a:t>
            </a:r>
            <a:endParaRPr sz="2400" b="0"/>
          </a:p>
          <a:p>
            <a:pPr lvl="1">
              <a:defRPr/>
            </a:pPr>
            <a:r>
              <a:rPr lang="ru-RU" sz="2400"/>
              <a:t>Опции разбросаны по директориям</a:t>
            </a:r>
            <a:endParaRPr sz="2400"/>
          </a:p>
          <a:p>
            <a:pPr lvl="1">
              <a:defRPr/>
            </a:pPr>
            <a:r>
              <a:rPr lang="ru-RU" sz="2400"/>
              <a:t>Сложность поддержки конфигурации</a:t>
            </a:r>
            <a:endParaRPr sz="2400"/>
          </a:p>
          <a:p>
            <a:pPr lvl="1">
              <a:defRPr/>
            </a:pPr>
            <a:r>
              <a:rPr lang="ru-RU" sz="2400"/>
              <a:t>Много способов сделать одно и то же</a:t>
            </a:r>
            <a:endParaRPr sz="2400"/>
          </a:p>
          <a:p>
            <a:pPr lvl="1">
              <a:defRPr/>
            </a:pPr>
            <a:r>
              <a:rPr lang="ru-RU" sz="2400"/>
              <a:t>Переусложнённость кода, бойлерплейт</a:t>
            </a:r>
            <a:endParaRPr sz="2400"/>
          </a:p>
          <a:p>
            <a:pPr lvl="0">
              <a:defRPr/>
            </a:pPr>
            <a:r>
              <a:rPr lang="ru-RU" sz="2400" b="1"/>
              <a:t>В языке </a:t>
            </a:r>
            <a:r>
              <a:rPr lang="en-US" sz="2400" b="1"/>
              <a:t>Nix:</a:t>
            </a:r>
            <a:endParaRPr sz="2400" b="0"/>
          </a:p>
          <a:p>
            <a:pPr lvl="1">
              <a:defRPr/>
            </a:pPr>
            <a:r>
              <a:rPr lang="ru-RU" sz="2400" b="0"/>
              <a:t>Непонятные ошибки</a:t>
            </a:r>
            <a:endParaRPr sz="2400" b="0"/>
          </a:p>
          <a:p>
            <a:pPr lvl="1">
              <a:defRPr/>
            </a:pPr>
            <a:r>
              <a:rPr lang="ru-RU" sz="2400" b="0"/>
              <a:t>Необходимость изучения языка для пользования ОС</a:t>
            </a:r>
            <a:endParaRPr sz="2400" b="0"/>
          </a:p>
          <a:p>
            <a:pPr lvl="0">
              <a:defRPr/>
            </a:pPr>
            <a:r>
              <a:rPr lang="ru-RU" sz="2400" b="1"/>
              <a:t>В пакетном менеджере </a:t>
            </a:r>
            <a:r>
              <a:rPr lang="en-US" sz="2400" b="1"/>
              <a:t>Nix:</a:t>
            </a:r>
            <a:endParaRPr sz="2400" b="0"/>
          </a:p>
          <a:p>
            <a:pPr lvl="1">
              <a:defRPr/>
            </a:pPr>
            <a:r>
              <a:rPr lang="en-US" sz="2400" b="0"/>
              <a:t>Nix Profiles </a:t>
            </a:r>
            <a:r>
              <a:rPr lang="ru-RU" sz="2400" b="0"/>
              <a:t>нарушает декларативность</a:t>
            </a:r>
            <a:endParaRPr sz="24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85638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Основное устройство системы</a:t>
            </a:r>
            <a:endParaRPr/>
          </a:p>
        </p:txBody>
      </p:sp>
      <p:sp>
        <p:nvSpPr>
          <p:cNvPr id="198243627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Ключевая особенность идеи – декларативный принцип. Конфигом будет определяться вся система (система инициализации, пакеты, пользователи, ...)</a:t>
            </a:r>
            <a:r>
              <a:rPr lang="ru-RU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. Пакеты будут расположены в </a:t>
            </a:r>
            <a:r>
              <a:rPr lang="en-US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read-only </a:t>
            </a:r>
            <a:r>
              <a:rPr lang="ru-RU" sz="32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директории, изолированно друг от друга, хранение по хешу (благодаря этому можно иметь сразу несколько версий программ и конфликтующее ПО)</a:t>
            </a:r>
            <a:endParaRPr sz="32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2328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Отличия от других дистрибутивов</a:t>
            </a:r>
            <a:endParaRPr/>
          </a:p>
        </p:txBody>
      </p:sp>
      <p:sp>
        <p:nvSpPr>
          <p:cNvPr id="11232586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ru-RU" sz="2400"/>
              <a:t>В отличие от классических дистрибутивов (</a:t>
            </a:r>
            <a:r>
              <a:rPr lang="en-US" sz="2400"/>
              <a:t>debian, ubuntu, arch</a:t>
            </a:r>
            <a:r>
              <a:rPr lang="ru-RU" sz="2400"/>
              <a:t>)</a:t>
            </a:r>
            <a:r>
              <a:rPr lang="en-US" sz="2400"/>
              <a:t> </a:t>
            </a:r>
            <a:r>
              <a:rPr lang="ru-RU" sz="2400"/>
              <a:t>в такой системе установка пакетов производится не императивными комадами, а декларативным конфигом (список программ). Также, изоляция пакетов приводит к детерменированности ОС.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lang="ru-RU" sz="2400"/>
              <a:t>В </a:t>
            </a:r>
            <a:r>
              <a:rPr lang="en-US" sz="2400"/>
              <a:t>NixOS </a:t>
            </a:r>
            <a:r>
              <a:rPr lang="ru-RU" sz="2400"/>
              <a:t>реализована функция откатов – на этапе загрузки вы можете выбрать предыдущую деривацию системы (сохраняется построенную по конфигу систему до очистки, как в </a:t>
            </a:r>
            <a:r>
              <a:rPr lang="en-US" sz="2400"/>
              <a:t>git</a:t>
            </a:r>
            <a:r>
              <a:rPr lang="ru-RU" sz="2400"/>
              <a:t>), если последняя деривация содержит ошибки, не функционирует или не соответствует требованиям. Такой же функционал легко реализовать и в моем концепте.</a:t>
            </a:r>
            <a:endParaRPr sz="2400"/>
          </a:p>
          <a:p>
            <a:pPr>
              <a:defRPr/>
            </a:pP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0386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Изоляция пакетов</a:t>
            </a:r>
            <a:endParaRPr/>
          </a:p>
        </p:txBody>
      </p:sp>
      <p:sp>
        <p:nvSpPr>
          <p:cNvPr id="1798522328" name=""/>
          <p:cNvSpPr/>
          <p:nvPr/>
        </p:nvSpPr>
        <p:spPr bwMode="auto">
          <a:xfrm rot="0" flipH="0" flipV="0">
            <a:off x="770394" y="1921710"/>
            <a:ext cx="1702580" cy="7598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1600"/>
              <a:t>Программа 1</a:t>
            </a:r>
            <a:endParaRPr sz="1600"/>
          </a:p>
        </p:txBody>
      </p:sp>
      <p:sp>
        <p:nvSpPr>
          <p:cNvPr id="1429978451" name=""/>
          <p:cNvSpPr/>
          <p:nvPr/>
        </p:nvSpPr>
        <p:spPr bwMode="auto">
          <a:xfrm rot="0" flipH="0" flipV="0">
            <a:off x="3621127" y="3285603"/>
            <a:ext cx="1702580" cy="7598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1600"/>
              <a:t>Программа 2</a:t>
            </a:r>
            <a:endParaRPr sz="1600"/>
          </a:p>
        </p:txBody>
      </p:sp>
      <p:sp>
        <p:nvSpPr>
          <p:cNvPr id="209015936" name=""/>
          <p:cNvSpPr/>
          <p:nvPr/>
        </p:nvSpPr>
        <p:spPr bwMode="auto">
          <a:xfrm rot="0" flipH="0" flipV="0">
            <a:off x="720318" y="5031873"/>
            <a:ext cx="1802732" cy="48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1200"/>
              <a:t>Зависимость 1 </a:t>
            </a:r>
            <a:r>
              <a:rPr lang="en-US" sz="1200"/>
              <a:t>v1.0</a:t>
            </a:r>
            <a:endParaRPr sz="1200"/>
          </a:p>
        </p:txBody>
      </p:sp>
      <p:sp>
        <p:nvSpPr>
          <p:cNvPr id="1028120388" name=""/>
          <p:cNvSpPr/>
          <p:nvPr/>
        </p:nvSpPr>
        <p:spPr bwMode="auto">
          <a:xfrm rot="0" flipH="0" flipV="0">
            <a:off x="2719761" y="5031873"/>
            <a:ext cx="1802732" cy="48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1200"/>
              <a:t>Общая Зависимость</a:t>
            </a:r>
            <a:endParaRPr sz="1200"/>
          </a:p>
        </p:txBody>
      </p:sp>
      <p:sp>
        <p:nvSpPr>
          <p:cNvPr id="816983567" name=""/>
          <p:cNvSpPr/>
          <p:nvPr/>
        </p:nvSpPr>
        <p:spPr bwMode="auto">
          <a:xfrm rot="0" flipH="0" flipV="0">
            <a:off x="5752191" y="5035899"/>
            <a:ext cx="1802732" cy="482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1200"/>
              <a:t>Зависимость 1 </a:t>
            </a:r>
            <a:r>
              <a:rPr lang="en-US" sz="1200"/>
              <a:t>v</a:t>
            </a:r>
            <a:r>
              <a:rPr lang="ru-RU" sz="1200"/>
              <a:t>2</a:t>
            </a:r>
            <a:r>
              <a:rPr lang="en-US" sz="1200"/>
              <a:t>.0</a:t>
            </a:r>
            <a:endParaRPr sz="1200"/>
          </a:p>
        </p:txBody>
      </p:sp>
      <p:cxnSp>
        <p:nvCxnSpPr>
          <p:cNvPr id="1293302894" name=""/>
          <p:cNvCxnSpPr>
            <a:stCxn id="1798522328" idx="2"/>
            <a:endCxn id="209015936" idx="0"/>
          </p:cNvCxnSpPr>
          <p:nvPr/>
        </p:nvCxnSpPr>
        <p:spPr bwMode="auto">
          <a:xfrm rot="5399978" flipH="0" flipV="0">
            <a:off x="446523" y="3856711"/>
            <a:ext cx="2350322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037048" name=""/>
          <p:cNvCxnSpPr>
            <a:stCxn id="1798522328" idx="2"/>
            <a:endCxn id="1028120388" idx="0"/>
          </p:cNvCxnSpPr>
          <p:nvPr/>
        </p:nvCxnSpPr>
        <p:spPr bwMode="auto">
          <a:xfrm rot="5399978" flipH="0" flipV="1">
            <a:off x="1446244" y="2856990"/>
            <a:ext cx="2350322" cy="1999442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879370" name=""/>
          <p:cNvCxnSpPr>
            <a:stCxn id="1429978451" idx="2"/>
            <a:endCxn id="1028120388" idx="0"/>
          </p:cNvCxnSpPr>
          <p:nvPr/>
        </p:nvCxnSpPr>
        <p:spPr bwMode="auto">
          <a:xfrm rot="5399978" flipH="0" flipV="0">
            <a:off x="3553557" y="4113012"/>
            <a:ext cx="986430" cy="85129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472845" name=""/>
          <p:cNvCxnSpPr>
            <a:stCxn id="1429978451" idx="2"/>
            <a:endCxn id="816983567" idx="0"/>
          </p:cNvCxnSpPr>
          <p:nvPr/>
        </p:nvCxnSpPr>
        <p:spPr bwMode="auto">
          <a:xfrm rot="5399978" flipH="0" flipV="1">
            <a:off x="5067759" y="3450101"/>
            <a:ext cx="990456" cy="2181139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6794832" name=""/>
          <p:cNvSpPr txBox="1"/>
          <p:nvPr/>
        </p:nvSpPr>
        <p:spPr bwMode="auto">
          <a:xfrm rot="0" flipH="0" flipV="0">
            <a:off x="8607631" y="2005263"/>
            <a:ext cx="3068944" cy="2560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/>
              <a:t>В область видимости программ будут входить только те зависимости, которые им нужны</a:t>
            </a:r>
            <a:br>
              <a:rPr lang="ru-RU"/>
            </a:br>
            <a:r>
              <a:rPr lang="ru-RU"/>
              <a:t>Зависимости разных версий имеют разный хеш, значит являются полностью разными для системы</a:t>
            </a:r>
            <a:endParaRPr/>
          </a:p>
        </p:txBody>
      </p:sp>
      <p:sp>
        <p:nvSpPr>
          <p:cNvPr id="1028047312" name=""/>
          <p:cNvSpPr/>
          <p:nvPr/>
        </p:nvSpPr>
        <p:spPr bwMode="auto">
          <a:xfrm rot="0" flipH="0" flipV="0">
            <a:off x="5802267" y="1700107"/>
            <a:ext cx="1702579" cy="759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1600"/>
              <a:t>Программа </a:t>
            </a:r>
            <a:r>
              <a:rPr lang="en-US" sz="1600"/>
              <a:t>3</a:t>
            </a:r>
            <a:endParaRPr sz="1600"/>
          </a:p>
        </p:txBody>
      </p:sp>
      <p:cxnSp>
        <p:nvCxnSpPr>
          <p:cNvPr id="2133509873" name=""/>
          <p:cNvCxnSpPr>
            <a:stCxn id="1028047312" idx="2"/>
            <a:endCxn id="1429978451" idx="0"/>
          </p:cNvCxnSpPr>
          <p:nvPr/>
        </p:nvCxnSpPr>
        <p:spPr bwMode="auto">
          <a:xfrm rot="5399978" flipH="0" flipV="0">
            <a:off x="5150160" y="1782205"/>
            <a:ext cx="825655" cy="2181139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8139402" name=""/>
          <p:cNvSpPr/>
          <p:nvPr/>
        </p:nvSpPr>
        <p:spPr bwMode="auto">
          <a:xfrm rot="0" flipH="0" flipV="0">
            <a:off x="5752191" y="3856711"/>
            <a:ext cx="1802731" cy="4825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1200"/>
              <a:t>Зависимость </a:t>
            </a:r>
            <a:r>
              <a:rPr sz="1200"/>
              <a:t>2</a:t>
            </a:r>
            <a:endParaRPr sz="1200"/>
          </a:p>
        </p:txBody>
      </p:sp>
      <p:cxnSp>
        <p:nvCxnSpPr>
          <p:cNvPr id="2086167579" name=""/>
          <p:cNvCxnSpPr>
            <a:stCxn id="1028047312" idx="2"/>
            <a:endCxn id="1418139402" idx="0"/>
          </p:cNvCxnSpPr>
          <p:nvPr/>
        </p:nvCxnSpPr>
        <p:spPr bwMode="auto">
          <a:xfrm rot="5399978" flipH="0" flipV="0">
            <a:off x="5955175" y="3158329"/>
            <a:ext cx="1396764" cy="0"/>
          </a:xfrm>
          <a:prstGeom prst="line">
            <a:avLst/>
          </a:prstGeom>
          <a:ln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1299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Плюсы концепта</a:t>
            </a:r>
            <a:endParaRPr/>
          </a:p>
        </p:txBody>
      </p:sp>
      <p:sp>
        <p:nvSpPr>
          <p:cNvPr id="2029995428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349965" indent="-349965">
              <a:buFont typeface="Arial"/>
              <a:buAutoNum type="arabicPeriod"/>
              <a:defRPr/>
            </a:pPr>
            <a:r>
              <a:rPr lang="ru-RU" sz="2400" b="1"/>
              <a:t>Изоляция пакетов </a:t>
            </a:r>
            <a:r>
              <a:rPr lang="ru-RU" sz="2400" b="0"/>
              <a:t>– система сможет иметь разные версии одного пакета, </a:t>
            </a:r>
            <a:r>
              <a:rPr lang="ru-RU" sz="2400" b="0"/>
              <a:t>ошибки зависимостей и конфликтов исключены</a:t>
            </a:r>
            <a:endParaRPr sz="2400" b="0"/>
          </a:p>
          <a:p>
            <a:pPr marL="349965" indent="-349965">
              <a:buFont typeface="Arial"/>
              <a:buAutoNum type="arabicPeriod"/>
              <a:defRPr/>
            </a:pPr>
            <a:r>
              <a:rPr lang="ru-RU" sz="2400" b="1"/>
              <a:t>Детерменированность </a:t>
            </a:r>
            <a:r>
              <a:rPr lang="ru-RU" sz="2400" b="0"/>
              <a:t>– одна и та же конфигурация </a:t>
            </a:r>
            <a:r>
              <a:rPr lang="ru-RU" sz="2400"/>
              <a:t>приведет к одному и тому же результату</a:t>
            </a:r>
            <a:r>
              <a:rPr lang="ru-RU" sz="2400"/>
              <a:t>. Драйвера и другие опции, зависящие от платформы, должны быть вынесены в отдельную конфигурацию устройства</a:t>
            </a:r>
            <a:endParaRPr sz="2400" b="0"/>
          </a:p>
          <a:p>
            <a:pPr marL="349965" indent="-349965">
              <a:buFont typeface="Arial"/>
              <a:buAutoNum type="arabicPeriod"/>
              <a:defRPr/>
            </a:pPr>
            <a:r>
              <a:rPr lang="ru-RU" sz="2400" b="1"/>
              <a:t>Реплицируемость </a:t>
            </a:r>
            <a:r>
              <a:rPr lang="ru-RU" sz="2400"/>
              <a:t>– имея конфигурацию системы, можно сделать её точную копию (за исключением пользовательских файлов)</a:t>
            </a:r>
            <a:endParaRPr sz="2400"/>
          </a:p>
          <a:p>
            <a:pPr marL="349965" indent="-349965">
              <a:buFont typeface="Arial"/>
              <a:buAutoNum type="arabicPeriod"/>
              <a:defRPr/>
            </a:pPr>
            <a:r>
              <a:rPr lang="ru-RU" sz="24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Упрощенное администрирование</a:t>
            </a:r>
            <a:r>
              <a:rPr lang="ru-RU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 – версионирование конфигурационного файла можно вести в </a:t>
            </a:r>
            <a:r>
              <a:rPr lang="en-US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git, </a:t>
            </a:r>
            <a:r>
              <a:rPr lang="ru-RU" sz="24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это упрощает аудит действий системных администраторов и дает возможность оперативно отменить изменения при необходимости</a:t>
            </a:r>
            <a:endParaRPr sz="2400"/>
          </a:p>
          <a:p>
            <a:pPr marL="349965" indent="-349965">
              <a:buFont typeface="Arial"/>
              <a:buAutoNum type="arabicPeriod"/>
              <a:defRPr/>
            </a:pPr>
            <a:r>
              <a:rPr lang="ru-RU" sz="2400" b="1"/>
              <a:t>Плавное освоение </a:t>
            </a:r>
            <a:r>
              <a:rPr lang="ru-RU" sz="2400" b="0"/>
              <a:t>– конфигурационные файлы созданы для чтения и записи из кода, детерменированность системы позволяет сделать пользовательский интерфейс для изменения конфигурации, который не сможет привести к ошибкам в системе. В </a:t>
            </a:r>
            <a:r>
              <a:rPr lang="en-US" sz="2400" b="0"/>
              <a:t>NixOS </a:t>
            </a:r>
            <a:r>
              <a:rPr lang="ru-RU" sz="2400" b="0"/>
              <a:t>такой подход усложнен, ведь ее конфигурация выполнена в функциональном языке программирования</a:t>
            </a:r>
            <a:endParaRPr lang="ru-RU" sz="24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6411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Минусы концепта</a:t>
            </a:r>
            <a:endParaRPr/>
          </a:p>
        </p:txBody>
      </p:sp>
      <p:sp>
        <p:nvSpPr>
          <p:cNvPr id="8740217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438080" indent="-438080">
              <a:buFont typeface="Arial"/>
              <a:buAutoNum type="arabicPeriod"/>
              <a:defRPr/>
            </a:pPr>
            <a:r>
              <a:rPr lang="ru-RU" sz="2400" b="1"/>
              <a:t>Больший вес</a:t>
            </a:r>
            <a:r>
              <a:rPr lang="ru-RU" sz="2400" b="0"/>
              <a:t> – конфигурация, деривации системы будут занимать место, пакетный менеджер хранит больше информации</a:t>
            </a:r>
            <a:r>
              <a:rPr lang="en-US" sz="2400" b="0"/>
              <a:t>; </a:t>
            </a:r>
            <a:r>
              <a:rPr lang="ru-RU" sz="2400" b="0"/>
              <a:t>однако, на современном оборудовании затраты памяти не будут значительны</a:t>
            </a:r>
            <a:endParaRPr sz="2400" b="0"/>
          </a:p>
          <a:p>
            <a:pPr marL="438080" indent="-438080">
              <a:buFont typeface="Arial"/>
              <a:buAutoNum type="arabicPeriod"/>
              <a:defRPr/>
            </a:pPr>
            <a:r>
              <a:rPr lang="ru-RU" sz="2400" b="1"/>
              <a:t>Излишняя изоляция</a:t>
            </a:r>
            <a:r>
              <a:rPr lang="ru-RU" sz="2400" b="0"/>
              <a:t> </a:t>
            </a:r>
            <a:r>
              <a:rPr lang="ru-RU" sz="2400" b="0"/>
              <a:t>– некоторые программы могут иметь неявные зависимости. Решение</a:t>
            </a:r>
            <a:r>
              <a:rPr lang="en-US" sz="2400" b="0"/>
              <a:t>: </a:t>
            </a:r>
            <a:r>
              <a:rPr lang="ru-RU" sz="2400" b="0"/>
              <a:t>конфигурации </a:t>
            </a:r>
            <a:r>
              <a:rPr lang="en-US" sz="2400" b="0"/>
              <a:t>shell, </a:t>
            </a:r>
            <a:r>
              <a:rPr lang="ru-RU" sz="2400" b="0"/>
              <a:t>в которых будут описаны необходимые программы (как в </a:t>
            </a:r>
            <a:r>
              <a:rPr lang="en-US" sz="2400" b="0"/>
              <a:t>NixOS</a:t>
            </a:r>
            <a:r>
              <a:rPr lang="ru-RU" sz="2400" b="0"/>
              <a:t>)</a:t>
            </a:r>
            <a:endParaRPr sz="2400" b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151084559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609599" y="647227"/>
          <a:ext cx="10972800" cy="5563544"/>
        </p:xfrm>
        <a:graphic>
          <a:graphicData uri="http://schemas.openxmlformats.org/presentationml/2006/ole">
            <p:oleObj name="oleObj" r:id="rId4" imgW="10972800" imgH="5562600" progId="Excel.Sheet.12">
              <p:embed/>
              <p:pic>
                <p:nvPicPr>
                  <p:cNvPr id="1151084559" name=""/>
                  <p:cNvPicPr/>
                  <p:nvPr/>
                </p:nvPicPr>
                <p:blipFill rotWithShape="1">
                  <a:blip r:embed="rId3"/>
                  <a:stretch/>
                </p:blipFill>
                <p:spPr bwMode="auto">
                  <a:xfrm flipH="0" flipV="0">
                    <a:off x="609599" y="647227"/>
                    <a:ext cx="10972800" cy="5563544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663225000" name=""/>
          <p:cNvSpPr txBox="1"/>
          <p:nvPr/>
        </p:nvSpPr>
        <p:spPr bwMode="auto">
          <a:xfrm rot="0" flipH="0" flipV="0">
            <a:off x="609599" y="217713"/>
            <a:ext cx="9279905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>
                <a:solidFill>
                  <a:schemeClr val="tx1">
                    <a:lumMod val="65000"/>
                    <a:lumOff val="35000"/>
                  </a:schemeClr>
                </a:solidFill>
              </a:rPr>
              <a:t>Таблица сравнения популярных дистрибутивов с основными идеями новой ОС</a:t>
            </a:r>
            <a:endParaRPr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ur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lassic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ONLYOFFICE/9.1.0.173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modified xsi:type="dcterms:W3CDTF">2026-09-29T12:43:51Z</dcterms:modified>
</cp:coreProperties>
</file>