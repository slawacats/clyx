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37595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55921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0826204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1574737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074392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6800691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679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2172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28407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431F9E-29DF-416F-36C9-C3E33D044E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9FD17E-15BB-A92C-C4C2-BE878BDB91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7574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0907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144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4947E7-31F4-FC21-E445-8AD8B8180D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7726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111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0583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E4D-16C6-0674-AA1D-BD1F9A3B94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A6BF44-F722-C903-71DE-C4E232C901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5C3871-37B8-A084-1EB9-71D316FA2B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E332DF-2599-28D2-AA37-6680C3DB77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4494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6036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555457-6B51-A976-6F8F-14631A76EC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198827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40044971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36130814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00145601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62435039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37772395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6942967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517873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41109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083776013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484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5384735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8948896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053932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9343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203635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130306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325125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817291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9706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704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1042108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3282936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9606804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325962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2198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4879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3234342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7138885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257470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4766831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7027892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5412120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95358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1377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7977009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393071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25107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7771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301017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98970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939247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50503249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0274347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5119418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7709278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41194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796618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8010407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90700183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7745429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834681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1469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58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0347976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903649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79033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2615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17656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8297320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747833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649779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172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499025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32137561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1622277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33259525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2612461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9448842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7385463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17915513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package" Target="../embeddings/Microsoft_Excel_Worksheet1.xls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1088816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81702529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6720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 что ругают </a:t>
            </a:r>
            <a:r>
              <a:rPr lang="en-US"/>
              <a:t>NixOS</a:t>
            </a:r>
            <a:endParaRPr/>
          </a:p>
        </p:txBody>
      </p:sp>
      <p:sp>
        <p:nvSpPr>
          <p:cNvPr id="99038351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0000" lnSpcReduction="8000"/>
          </a:bodyPr>
          <a:lstStyle/>
          <a:p>
            <a:pPr>
              <a:defRPr/>
            </a:pPr>
            <a:r>
              <a:rPr lang="ru-RU" b="1"/>
              <a:t>Крутая кривая обучения</a:t>
            </a:r>
            <a:r>
              <a:rPr lang="ru-RU"/>
              <a:t> (</a:t>
            </a:r>
            <a:r>
              <a:rPr lang="en-US"/>
              <a:t>linux, nix, </a:t>
            </a:r>
            <a:r>
              <a:rPr lang="en-US"/>
              <a:t>flake, </a:t>
            </a:r>
            <a:r>
              <a:rPr lang="ru-RU"/>
              <a:t>система модулей, </a:t>
            </a:r>
            <a:r>
              <a:rPr lang="en-US"/>
              <a:t>derivations, overlays</a:t>
            </a:r>
            <a:r>
              <a:rPr lang="ru-RU"/>
              <a:t>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ru-RU" b="1"/>
              <a:t>Непонятные ошибки</a:t>
            </a:r>
            <a:r>
              <a:rPr lang="ru-RU"/>
              <a:t> языка </a:t>
            </a:r>
            <a:r>
              <a:rPr lang="en-US"/>
              <a:t>nix</a:t>
            </a:r>
            <a:endParaRPr lang="en-US"/>
          </a:p>
          <a:p>
            <a:pPr marL="0" indent="0">
              <a:buFont typeface="Arial"/>
              <a:buNone/>
              <a:defRPr/>
            </a:pPr>
            <a:endParaRPr lang="en-US"/>
          </a:p>
          <a:p>
            <a:pPr>
              <a:defRPr/>
            </a:pP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Документация и примеры разрознены</a:t>
            </a:r>
            <a:endParaRPr lang="ru-RU" b="1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ru-RU"/>
              <a:t>Нестандартные версии, флаги при компиляции, проприетарные зависимости, непопулярные программы </a:t>
            </a:r>
            <a:r>
              <a:rPr lang="ru-RU" b="1"/>
              <a:t>требуют код</a:t>
            </a:r>
            <a:r>
              <a:rPr lang="ru-RU"/>
              <a:t> на </a:t>
            </a:r>
            <a:r>
              <a:rPr lang="en-US"/>
              <a:t>nix-</a:t>
            </a:r>
            <a:r>
              <a:rPr lang="ru-RU"/>
              <a:t>е (либо разбираться с </a:t>
            </a:r>
            <a:r>
              <a:rPr lang="en-US"/>
              <a:t>flake</a:t>
            </a:r>
            <a:r>
              <a:rPr lang="ru-RU"/>
              <a:t>)</a:t>
            </a:r>
            <a:endParaRPr lang="ru-RU"/>
          </a:p>
          <a:p>
            <a:pPr>
              <a:defRPr/>
            </a:pPr>
            <a:endParaRPr lang="ru-RU"/>
          </a:p>
          <a:p>
            <a:pPr>
              <a:defRPr/>
            </a:pPr>
            <a:r>
              <a:rPr lang="ru-RU" b="1"/>
              <a:t>Слишком много способов сделать одно и то же</a:t>
            </a:r>
            <a:endParaRPr lang="ru-RU"/>
          </a:p>
          <a:p>
            <a:pPr>
              <a:defRPr/>
            </a:pPr>
            <a:endParaRPr lang="ru-RU"/>
          </a:p>
          <a:p>
            <a:pPr>
              <a:defRPr/>
            </a:pPr>
            <a:r>
              <a:rPr lang="en-US" b="1"/>
              <a:t>Nix Profile </a:t>
            </a:r>
            <a:r>
              <a:rPr lang="ru-RU" b="1"/>
              <a:t>нарушает декларативность</a:t>
            </a:r>
            <a:endParaRPr lang="ru-RU"/>
          </a:p>
          <a:p>
            <a:pPr>
              <a:defRPr/>
            </a:pPr>
            <a:endParaRPr lang="ru-RU"/>
          </a:p>
          <a:p>
            <a:pPr>
              <a:defRPr/>
            </a:pPr>
            <a:r>
              <a:rPr lang="ru-RU"/>
              <a:t>Нужно постоянно поддерживать конфигурацию, </a:t>
            </a:r>
            <a:r>
              <a:rPr lang="ru-RU" b="1"/>
              <a:t>система становится проектом в </a:t>
            </a:r>
            <a:r>
              <a:rPr lang="en-US" b="1"/>
              <a:t>git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0487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Проблемы </a:t>
            </a:r>
            <a:r>
              <a:rPr lang="en-US"/>
              <a:t>NixOS</a:t>
            </a:r>
            <a:endParaRPr/>
          </a:p>
        </p:txBody>
      </p:sp>
      <p:sp>
        <p:nvSpPr>
          <p:cNvPr id="93458132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2400" b="1"/>
              <a:t>В устройстве конфигурации</a:t>
            </a:r>
            <a:r>
              <a:rPr lang="en-US" sz="2400" b="1"/>
              <a:t>:</a:t>
            </a:r>
            <a:endParaRPr sz="2400" b="1"/>
          </a:p>
          <a:p>
            <a:pPr lvl="1">
              <a:defRPr/>
            </a:pPr>
            <a:r>
              <a:rPr lang="ru-RU" sz="2400" b="0"/>
              <a:t>Есть неявные опции (например, </a:t>
            </a:r>
            <a:r>
              <a:rPr lang="en-US" sz="2400" b="0"/>
              <a:t>glibc, coreutils, </a:t>
            </a:r>
            <a:r>
              <a:rPr lang="ru-RU" sz="2400" b="0"/>
              <a:t>система инициализации</a:t>
            </a:r>
            <a:r>
              <a:rPr lang="ru-RU" sz="2400" b="0"/>
              <a:t>)</a:t>
            </a:r>
            <a:endParaRPr sz="2400" b="0"/>
          </a:p>
          <a:p>
            <a:pPr lvl="1">
              <a:defRPr/>
            </a:pPr>
            <a:r>
              <a:rPr lang="ru-RU" sz="2400"/>
              <a:t>Опции разбросаны по директориям</a:t>
            </a:r>
            <a:endParaRPr sz="2400"/>
          </a:p>
          <a:p>
            <a:pPr lvl="1">
              <a:defRPr/>
            </a:pPr>
            <a:r>
              <a:rPr lang="ru-RU" sz="2400"/>
              <a:t>Сложность поддержки конфигурации</a:t>
            </a:r>
            <a:endParaRPr sz="2400"/>
          </a:p>
          <a:p>
            <a:pPr lvl="1">
              <a:defRPr/>
            </a:pPr>
            <a:r>
              <a:rPr lang="ru-RU" sz="2400"/>
              <a:t>Много способов сделать одно и то же</a:t>
            </a:r>
            <a:endParaRPr sz="2400"/>
          </a:p>
          <a:p>
            <a:pPr lvl="1">
              <a:defRPr/>
            </a:pPr>
            <a:r>
              <a:rPr lang="ru-RU" sz="2400"/>
              <a:t>Переусложнённость кода, бойлерплейт</a:t>
            </a:r>
            <a:endParaRPr sz="2400"/>
          </a:p>
          <a:p>
            <a:pPr lvl="0">
              <a:defRPr/>
            </a:pPr>
            <a:r>
              <a:rPr lang="ru-RU" sz="2400" b="1"/>
              <a:t>В языке </a:t>
            </a:r>
            <a:r>
              <a:rPr lang="en-US" sz="2400" b="1"/>
              <a:t>Nix:</a:t>
            </a:r>
            <a:endParaRPr sz="2400" b="0"/>
          </a:p>
          <a:p>
            <a:pPr lvl="1">
              <a:defRPr/>
            </a:pPr>
            <a:r>
              <a:rPr lang="ru-RU" sz="2400" b="0"/>
              <a:t>Непонятные ошибки</a:t>
            </a:r>
            <a:endParaRPr sz="2400" b="0"/>
          </a:p>
          <a:p>
            <a:pPr lvl="1">
              <a:defRPr/>
            </a:pPr>
            <a:r>
              <a:rPr lang="ru-RU" sz="2400" b="0"/>
              <a:t>Необходимость изучения языка для пользования ОС</a:t>
            </a:r>
            <a:endParaRPr sz="2400" b="0"/>
          </a:p>
          <a:p>
            <a:pPr lvl="0">
              <a:defRPr/>
            </a:pPr>
            <a:r>
              <a:rPr lang="ru-RU" sz="2400" b="1"/>
              <a:t>В пакетном менеджере </a:t>
            </a:r>
            <a:r>
              <a:rPr lang="en-US" sz="2400" b="1"/>
              <a:t>Nix:</a:t>
            </a:r>
            <a:endParaRPr sz="2400" b="0"/>
          </a:p>
          <a:p>
            <a:pPr lvl="1">
              <a:defRPr/>
            </a:pPr>
            <a:r>
              <a:rPr lang="en-US" sz="2400" b="0"/>
              <a:t>Nix Profiles </a:t>
            </a:r>
            <a:r>
              <a:rPr lang="ru-RU" sz="2400" b="0"/>
              <a:t>нарушает декларативность</a:t>
            </a:r>
            <a:endParaRPr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0637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Основное устройство системы</a:t>
            </a:r>
            <a:endParaRPr/>
          </a:p>
        </p:txBody>
      </p:sp>
      <p:sp>
        <p:nvSpPr>
          <p:cNvPr id="110460147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Ключевая особенность идеи – декларативный принцип. Конфигом будет определяться вся система (система инициализации, пакеты, пользователи, ...)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. Пакеты будут расположены в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read-only 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директории, изолированно друг от друга, хранение по хешу (благодаря этому можно иметь сразу несколько версий программ и конфликтующее ПО)</a:t>
            </a:r>
            <a:endParaRPr sz="32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58621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Отличия от других дистрибутивов</a:t>
            </a:r>
            <a:endParaRPr/>
          </a:p>
        </p:txBody>
      </p:sp>
      <p:sp>
        <p:nvSpPr>
          <p:cNvPr id="174809595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400"/>
              <a:t>В отличие от классических дистрибутивов (</a:t>
            </a:r>
            <a:r>
              <a:rPr lang="en-US" sz="2400"/>
              <a:t>debian, ubuntu, arch</a:t>
            </a:r>
            <a:r>
              <a:rPr lang="ru-RU" sz="2400"/>
              <a:t>)</a:t>
            </a:r>
            <a:r>
              <a:rPr lang="en-US" sz="2400"/>
              <a:t> </a:t>
            </a:r>
            <a:r>
              <a:rPr lang="ru-RU" sz="2400"/>
              <a:t>в такой системе установка пакетов производится не императивными комадами, а декларативным конфигом (список программ). Также, изоляция пакетов приводит к детерменированности ОС.</a:t>
            </a:r>
            <a:endParaRPr sz="2400"/>
          </a:p>
          <a:p>
            <a:pPr>
              <a:defRPr/>
            </a:pPr>
            <a:endParaRPr sz="2400"/>
          </a:p>
          <a:p>
            <a:pPr>
              <a:defRPr/>
            </a:pPr>
            <a:r>
              <a:rPr lang="ru-RU" sz="2400"/>
              <a:t>В </a:t>
            </a:r>
            <a:r>
              <a:rPr lang="en-US" sz="2400"/>
              <a:t>NixOS </a:t>
            </a:r>
            <a:r>
              <a:rPr lang="ru-RU" sz="2400"/>
              <a:t>реализована функция откатов – на этапе загрузки вы можете выбрать предыдущую деривацию системы (сохраняется построенную по конфигу систему до очистки, как в </a:t>
            </a:r>
            <a:r>
              <a:rPr lang="en-US" sz="2400"/>
              <a:t>git</a:t>
            </a:r>
            <a:r>
              <a:rPr lang="ru-RU" sz="2400"/>
              <a:t>), если последняя деривация содержит ошибки, не функционирует или не соответствует требованиям. Такой же функционал легко реализовать и в моем концепте.</a:t>
            </a:r>
            <a:endParaRPr sz="2400"/>
          </a:p>
          <a:p>
            <a:pPr>
              <a:defRPr/>
            </a:pP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0386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Изоляция пакетов</a:t>
            </a:r>
            <a:endParaRPr/>
          </a:p>
        </p:txBody>
      </p:sp>
      <p:sp>
        <p:nvSpPr>
          <p:cNvPr id="1798522328" name=""/>
          <p:cNvSpPr/>
          <p:nvPr/>
        </p:nvSpPr>
        <p:spPr bwMode="auto">
          <a:xfrm rot="0" flipH="0" flipV="0">
            <a:off x="770394" y="1921710"/>
            <a:ext cx="1702580" cy="7598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1</a:t>
            </a:r>
            <a:endParaRPr sz="1600"/>
          </a:p>
        </p:txBody>
      </p:sp>
      <p:sp>
        <p:nvSpPr>
          <p:cNvPr id="1429978451" name=""/>
          <p:cNvSpPr/>
          <p:nvPr/>
        </p:nvSpPr>
        <p:spPr bwMode="auto">
          <a:xfrm rot="0" flipH="0" flipV="0">
            <a:off x="3621127" y="3285603"/>
            <a:ext cx="1702580" cy="7598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2</a:t>
            </a:r>
            <a:endParaRPr sz="1600"/>
          </a:p>
        </p:txBody>
      </p:sp>
      <p:sp>
        <p:nvSpPr>
          <p:cNvPr id="209015936" name=""/>
          <p:cNvSpPr/>
          <p:nvPr/>
        </p:nvSpPr>
        <p:spPr bwMode="auto">
          <a:xfrm rot="0" flipH="0" flipV="0">
            <a:off x="720318" y="5031873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1 </a:t>
            </a:r>
            <a:r>
              <a:rPr lang="en-US" sz="1200"/>
              <a:t>v1.0</a:t>
            </a:r>
            <a:endParaRPr sz="1200"/>
          </a:p>
        </p:txBody>
      </p:sp>
      <p:sp>
        <p:nvSpPr>
          <p:cNvPr id="1028120388" name=""/>
          <p:cNvSpPr/>
          <p:nvPr/>
        </p:nvSpPr>
        <p:spPr bwMode="auto">
          <a:xfrm rot="0" flipH="0" flipV="0">
            <a:off x="2719761" y="5031873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Общая Зависимость</a:t>
            </a:r>
            <a:endParaRPr sz="1200"/>
          </a:p>
        </p:txBody>
      </p:sp>
      <p:sp>
        <p:nvSpPr>
          <p:cNvPr id="816983567" name=""/>
          <p:cNvSpPr/>
          <p:nvPr/>
        </p:nvSpPr>
        <p:spPr bwMode="auto">
          <a:xfrm rot="0" flipH="0" flipV="0">
            <a:off x="5752191" y="5035899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1 </a:t>
            </a:r>
            <a:r>
              <a:rPr lang="en-US" sz="1200"/>
              <a:t>v</a:t>
            </a:r>
            <a:r>
              <a:rPr lang="ru-RU" sz="1200"/>
              <a:t>2</a:t>
            </a:r>
            <a:r>
              <a:rPr lang="en-US" sz="1200"/>
              <a:t>.0</a:t>
            </a:r>
            <a:endParaRPr sz="1200"/>
          </a:p>
        </p:txBody>
      </p:sp>
      <p:cxnSp>
        <p:nvCxnSpPr>
          <p:cNvPr id="1293302894" name=""/>
          <p:cNvCxnSpPr>
            <a:stCxn id="1798522328" idx="2"/>
            <a:endCxn id="209015936" idx="0"/>
          </p:cNvCxnSpPr>
          <p:nvPr/>
        </p:nvCxnSpPr>
        <p:spPr bwMode="auto">
          <a:xfrm rot="5399978" flipH="0" flipV="0">
            <a:off x="446523" y="3856711"/>
            <a:ext cx="2350322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037048" name=""/>
          <p:cNvCxnSpPr>
            <a:stCxn id="1798522328" idx="2"/>
            <a:endCxn id="1028120388" idx="0"/>
          </p:cNvCxnSpPr>
          <p:nvPr/>
        </p:nvCxnSpPr>
        <p:spPr bwMode="auto">
          <a:xfrm rot="5399978" flipH="0" flipV="1">
            <a:off x="1446244" y="2856990"/>
            <a:ext cx="2350322" cy="1999442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879370" name=""/>
          <p:cNvCxnSpPr>
            <a:stCxn id="1429978451" idx="2"/>
            <a:endCxn id="1028120388" idx="0"/>
          </p:cNvCxnSpPr>
          <p:nvPr/>
        </p:nvCxnSpPr>
        <p:spPr bwMode="auto">
          <a:xfrm rot="5399978" flipH="0" flipV="0">
            <a:off x="3553557" y="4113012"/>
            <a:ext cx="986430" cy="85129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472845" name=""/>
          <p:cNvCxnSpPr>
            <a:stCxn id="1429978451" idx="2"/>
            <a:endCxn id="816983567" idx="0"/>
          </p:cNvCxnSpPr>
          <p:nvPr/>
        </p:nvCxnSpPr>
        <p:spPr bwMode="auto">
          <a:xfrm rot="5399978" flipH="0" flipV="1">
            <a:off x="5067759" y="3450101"/>
            <a:ext cx="990456" cy="2181139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6794832" name=""/>
          <p:cNvSpPr txBox="1"/>
          <p:nvPr/>
        </p:nvSpPr>
        <p:spPr bwMode="auto">
          <a:xfrm rot="0" flipH="0" flipV="0">
            <a:off x="8607631" y="2005263"/>
            <a:ext cx="3068944" cy="2560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/>
              <a:t>В область видимости программ будут входить только те зависимости, которые им нужны</a:t>
            </a:r>
            <a:br>
              <a:rPr lang="ru-RU"/>
            </a:br>
            <a:r>
              <a:rPr lang="ru-RU"/>
              <a:t>Зависимости разных версий имеют разный хеш, значит являются полностью разными для системы</a:t>
            </a:r>
            <a:endParaRPr/>
          </a:p>
        </p:txBody>
      </p:sp>
      <p:sp>
        <p:nvSpPr>
          <p:cNvPr id="1028047312" name=""/>
          <p:cNvSpPr/>
          <p:nvPr/>
        </p:nvSpPr>
        <p:spPr bwMode="auto">
          <a:xfrm rot="0" flipH="0" flipV="0">
            <a:off x="5802267" y="1700107"/>
            <a:ext cx="1702579" cy="7598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</a:t>
            </a:r>
            <a:r>
              <a:rPr lang="en-US" sz="1600"/>
              <a:t>3</a:t>
            </a:r>
            <a:endParaRPr sz="1600"/>
          </a:p>
        </p:txBody>
      </p:sp>
      <p:cxnSp>
        <p:nvCxnSpPr>
          <p:cNvPr id="2133509873" name=""/>
          <p:cNvCxnSpPr>
            <a:stCxn id="1028047312" idx="2"/>
            <a:endCxn id="1429978451" idx="0"/>
          </p:cNvCxnSpPr>
          <p:nvPr/>
        </p:nvCxnSpPr>
        <p:spPr bwMode="auto">
          <a:xfrm rot="5399978" flipH="0" flipV="0">
            <a:off x="5150160" y="1782205"/>
            <a:ext cx="825655" cy="2181139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8139402" name=""/>
          <p:cNvSpPr/>
          <p:nvPr/>
        </p:nvSpPr>
        <p:spPr bwMode="auto">
          <a:xfrm rot="0" flipH="0" flipV="0">
            <a:off x="5752191" y="3856711"/>
            <a:ext cx="1802731" cy="4825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</a:t>
            </a:r>
            <a:r>
              <a:rPr sz="1200"/>
              <a:t>2</a:t>
            </a:r>
            <a:endParaRPr sz="1200"/>
          </a:p>
        </p:txBody>
      </p:sp>
      <p:cxnSp>
        <p:nvCxnSpPr>
          <p:cNvPr id="2086167579" name=""/>
          <p:cNvCxnSpPr>
            <a:stCxn id="1028047312" idx="2"/>
            <a:endCxn id="1418139402" idx="0"/>
          </p:cNvCxnSpPr>
          <p:nvPr/>
        </p:nvCxnSpPr>
        <p:spPr bwMode="auto">
          <a:xfrm rot="5399978" flipH="0" flipV="0">
            <a:off x="5955175" y="3158329"/>
            <a:ext cx="1396764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129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Плюсы концепта</a:t>
            </a:r>
            <a:endParaRPr/>
          </a:p>
        </p:txBody>
      </p:sp>
      <p:sp>
        <p:nvSpPr>
          <p:cNvPr id="202999542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Изоляция пакетов </a:t>
            </a:r>
            <a:r>
              <a:rPr lang="ru-RU" sz="2400" b="0"/>
              <a:t>– система сможет иметь разные версии одного пакета, </a:t>
            </a:r>
            <a:r>
              <a:rPr lang="ru-RU" sz="2400" b="0"/>
              <a:t>ошибки зависимостей и конфликтов исключены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Детерменированность </a:t>
            </a:r>
            <a:r>
              <a:rPr lang="ru-RU" sz="2400" b="0"/>
              <a:t>– одна и та же конфигурация </a:t>
            </a:r>
            <a:r>
              <a:rPr lang="ru-RU" sz="2400"/>
              <a:t>приведет к одному и тому же результату</a:t>
            </a:r>
            <a:r>
              <a:rPr lang="ru-RU" sz="2400"/>
              <a:t>. Драйвера и другие опции, зависящие от платформы, должны быть вынесены в отдельную конфигурацию устройства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Реплицируемость </a:t>
            </a:r>
            <a:r>
              <a:rPr lang="ru-RU" sz="2400"/>
              <a:t>– имея конфигурацию системы, можно сделать её точную копию (за исключением пользовательских файлов)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Упрощенное администрирование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– версионирование конфигурационного файла можно вести в </a:t>
            </a: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git, 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это упрощает аудит действий системных администраторов и дает возможность оперативно отменить изменения при необходимости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Плавное освоение </a:t>
            </a:r>
            <a:r>
              <a:rPr lang="ru-RU" sz="2400" b="0"/>
              <a:t>– конфигурационные файлы созданы для чтения и записи из кода, детерменированность системы позволяет сделать пользовательский интерфейс для изменения конфигурации, который не сможет привести к ошибкам в системе. В </a:t>
            </a:r>
            <a:r>
              <a:rPr lang="en-US" sz="2400" b="0"/>
              <a:t>NixOS </a:t>
            </a:r>
            <a:r>
              <a:rPr lang="ru-RU" sz="2400" b="0"/>
              <a:t>такой подход усложнен, ведь ее конфигурация выполнена в функциональном языке программирования</a:t>
            </a:r>
            <a:endParaRPr lang="ru-RU"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6411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Минусы концепта</a:t>
            </a:r>
            <a:endParaRPr/>
          </a:p>
        </p:txBody>
      </p:sp>
      <p:sp>
        <p:nvSpPr>
          <p:cNvPr id="87402178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Больший вес</a:t>
            </a:r>
            <a:r>
              <a:rPr lang="ru-RU" sz="2400" b="0"/>
              <a:t> – конфигурация, деривации системы будут занимать место, пакетный менеджер хранит больше информации</a:t>
            </a:r>
            <a:r>
              <a:rPr lang="en-US" sz="2400" b="0"/>
              <a:t>; </a:t>
            </a:r>
            <a:r>
              <a:rPr lang="ru-RU" sz="2400" b="0"/>
              <a:t>однако, на современном оборудовании затраты памяти не будут значительны</a:t>
            </a:r>
            <a:endParaRPr sz="2400" b="0"/>
          </a:p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Излишняя изоляция</a:t>
            </a:r>
            <a:r>
              <a:rPr lang="ru-RU" sz="2400" b="0"/>
              <a:t> </a:t>
            </a:r>
            <a:r>
              <a:rPr lang="ru-RU" sz="2400" b="0"/>
              <a:t>– некоторые программы могут иметь неявные зависимости. Решение</a:t>
            </a:r>
            <a:r>
              <a:rPr lang="en-US" sz="2400" b="0"/>
              <a:t>: </a:t>
            </a:r>
            <a:r>
              <a:rPr lang="ru-RU" sz="2400" b="0"/>
              <a:t>конфигурации </a:t>
            </a:r>
            <a:r>
              <a:rPr lang="en-US" sz="2400" b="0"/>
              <a:t>shell, </a:t>
            </a:r>
            <a:r>
              <a:rPr lang="ru-RU" sz="2400" b="0"/>
              <a:t>в которых будут описаны необходимые программы (как в </a:t>
            </a:r>
            <a:r>
              <a:rPr lang="en-US" sz="2400" b="0"/>
              <a:t>NixOS</a:t>
            </a:r>
            <a:r>
              <a:rPr lang="ru-RU" sz="2400" b="0"/>
              <a:t>)</a:t>
            </a:r>
            <a:endParaRPr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792559690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609599" y="647227"/>
          <a:ext cx="10972800" cy="5563544"/>
        </p:xfrm>
        <a:graphic>
          <a:graphicData uri="http://schemas.openxmlformats.org/presentationml/2006/ole">
            <p:oleObj name="oleObj" r:id="rId4" imgW="10972800" imgH="5562600" progId="Excel.Sheet.12">
              <p:embed/>
              <p:pic>
                <p:nvPicPr>
                  <p:cNvPr id="792559690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609599" y="647227"/>
                    <a:ext cx="10972800" cy="556354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65370342" name=""/>
          <p:cNvSpPr txBox="1"/>
          <p:nvPr/>
        </p:nvSpPr>
        <p:spPr bwMode="auto">
          <a:xfrm rot="0" flipH="0" flipV="0">
            <a:off x="609599" y="217713"/>
            <a:ext cx="927990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solidFill>
                  <a:schemeClr val="tx1">
                    <a:lumMod val="65000"/>
                    <a:lumOff val="35000"/>
                  </a:schemeClr>
                </a:solidFill>
              </a:rPr>
              <a:t>Таблица сравнения популярных дистрибутивов с основными идеями новой ОС</a:t>
            </a:r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2026-09-29T12:24:42Z</dcterms:modified>
</cp:coreProperties>
</file>